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8"/>
    <p:sldId id="258" r:id="rId9"/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4864"/>
            <a:ext cx="9144000" cy="475488"/>
          </a:xfrm>
          <a:prstGeom prst="rect">
            <a:avLst/>
          </a:prstGeom>
          <a:solidFill>
            <a:srgbClr val="1A2648"/>
          </a:solidFill>
          <a:ln w="12700">
            <a:solidFill>
              <a:srgbClr val="1A264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56032" y="54864"/>
            <a:ext cx="7315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都市開発事業　成長シナリオ ― 機能強化ロードマップ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7498080" y="54864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A8B8C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事業戦略（将来に関する記述を含みます）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73152" y="1828800"/>
            <a:ext cx="8997696" cy="10973"/>
          </a:xfrm>
          <a:prstGeom prst="rect">
            <a:avLst/>
          </a:prstGeom>
          <a:solidFill>
            <a:srgbClr val="CACDD8">
              <a:alpha val="60000"/>
            </a:srgbClr>
          </a:solidFill>
          <a:ln w="12700">
            <a:solidFill>
              <a:srgbClr val="CACDD8">
                <a:alpha val="6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963093" y="1828800"/>
            <a:ext cx="177112" cy="0"/>
          </a:xfrm>
          <a:prstGeom prst="line">
            <a:avLst/>
          </a:prstGeom>
          <a:noFill/>
          <a:ln w="19050">
            <a:solidFill>
              <a:srgbClr val="1A2648"/>
            </a:solidFill>
            <a:prstDash val="solid"/>
            <a:tailEnd type="open"/>
          </a:ln>
        </p:spPr>
      </p:sp>
      <p:sp>
        <p:nvSpPr>
          <p:cNvPr id="8" name="Shape 6"/>
          <p:cNvSpPr/>
          <p:nvPr/>
        </p:nvSpPr>
        <p:spPr>
          <a:xfrm>
            <a:off x="4464834" y="1828800"/>
            <a:ext cx="177830" cy="0"/>
          </a:xfrm>
          <a:prstGeom prst="line">
            <a:avLst/>
          </a:prstGeom>
          <a:noFill/>
          <a:ln w="19050">
            <a:solidFill>
              <a:srgbClr val="1A2648"/>
            </a:solidFill>
            <a:prstDash val="solid"/>
            <a:tailEnd type="open"/>
          </a:ln>
        </p:spPr>
      </p:sp>
      <p:sp>
        <p:nvSpPr>
          <p:cNvPr id="9" name="Shape 7"/>
          <p:cNvSpPr/>
          <p:nvPr/>
        </p:nvSpPr>
        <p:spPr>
          <a:xfrm>
            <a:off x="6414009" y="1828800"/>
            <a:ext cx="177112" cy="0"/>
          </a:xfrm>
          <a:prstGeom prst="line">
            <a:avLst/>
          </a:prstGeom>
          <a:noFill/>
          <a:ln w="19050">
            <a:solidFill>
              <a:srgbClr val="1A2648"/>
            </a:solidFill>
            <a:prstDash val="solid"/>
            <a:tailEnd type="open"/>
          </a:ln>
        </p:spPr>
      </p:sp>
      <p:sp>
        <p:nvSpPr>
          <p:cNvPr id="10" name="Shape 8"/>
          <p:cNvSpPr/>
          <p:nvPr/>
        </p:nvSpPr>
        <p:spPr>
          <a:xfrm>
            <a:off x="2076702" y="1399321"/>
            <a:ext cx="858958" cy="858958"/>
          </a:xfrm>
          <a:prstGeom prst="ellipse">
            <a:avLst/>
          </a:prstGeom>
          <a:solidFill>
            <a:srgbClr val="E8ECF5"/>
          </a:solidFill>
          <a:ln w="19050">
            <a:solidFill>
              <a:srgbClr val="8090B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0734" y="1435897"/>
            <a:ext cx="310896" cy="310896"/>
          </a:xfrm>
          <a:prstGeom prst="ellipse">
            <a:avLst/>
          </a:prstGeom>
          <a:solidFill>
            <a:srgbClr val="1A2648"/>
          </a:solidFill>
          <a:ln w="1016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350734" y="1435897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2131566" y="1609344"/>
            <a:ext cx="74923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A26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現在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1A26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(As is)</a:t>
            </a:r>
            <a:endParaRPr lang="en-US" sz="700" dirty="0"/>
          </a:p>
        </p:txBody>
      </p:sp>
      <p:sp>
        <p:nvSpPr>
          <p:cNvPr id="14" name="Shape 12"/>
          <p:cNvSpPr/>
          <p:nvPr/>
        </p:nvSpPr>
        <p:spPr>
          <a:xfrm>
            <a:off x="3167637" y="1193918"/>
            <a:ext cx="1269765" cy="1269765"/>
          </a:xfrm>
          <a:prstGeom prst="ellipse">
            <a:avLst/>
          </a:prstGeom>
          <a:solidFill>
            <a:srgbClr val="D8E8F2"/>
          </a:solidFill>
          <a:ln w="19050">
            <a:solidFill>
              <a:srgbClr val="4A88B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47071" y="1230494"/>
            <a:ext cx="310896" cy="310896"/>
          </a:xfrm>
          <a:prstGeom prst="ellipse">
            <a:avLst/>
          </a:prstGeom>
          <a:solidFill>
            <a:srgbClr val="1A2648"/>
          </a:solidFill>
          <a:ln w="1016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47071" y="123049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3222501" y="1609344"/>
            <a:ext cx="116003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26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戦略投資フェーズⅠ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670096" y="970560"/>
            <a:ext cx="1716481" cy="1716481"/>
          </a:xfrm>
          <a:prstGeom prst="ellipse">
            <a:avLst/>
          </a:prstGeom>
          <a:solidFill>
            <a:srgbClr val="D4EEE2"/>
          </a:solidFill>
          <a:ln w="19050">
            <a:solidFill>
              <a:srgbClr val="2A8A5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372889" y="1007136"/>
            <a:ext cx="310896" cy="310896"/>
          </a:xfrm>
          <a:prstGeom prst="ellipse">
            <a:avLst/>
          </a:prstGeom>
          <a:solidFill>
            <a:srgbClr val="1A2648"/>
          </a:solidFill>
          <a:ln w="1016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372889" y="10071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4724960" y="1609344"/>
            <a:ext cx="160675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26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戦略投資フェーズⅡ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618553" y="721347"/>
            <a:ext cx="2214906" cy="2214906"/>
          </a:xfrm>
          <a:prstGeom prst="ellipse">
            <a:avLst/>
          </a:prstGeom>
          <a:solidFill>
            <a:srgbClr val="FAE8E0"/>
          </a:solidFill>
          <a:ln w="19050">
            <a:solidFill>
              <a:srgbClr val="C8502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570558" y="757923"/>
            <a:ext cx="310896" cy="310896"/>
          </a:xfrm>
          <a:prstGeom prst="ellipse">
            <a:avLst/>
          </a:prstGeom>
          <a:solidFill>
            <a:srgbClr val="C8102E"/>
          </a:solidFill>
          <a:ln w="1016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570558" y="757923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④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6673417" y="1609344"/>
            <a:ext cx="210517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810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都市開発事業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C810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の確立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1993392" y="3000261"/>
            <a:ext cx="1058616" cy="91440"/>
          </a:xfrm>
          <a:prstGeom prst="rect">
            <a:avLst/>
          </a:prstGeom>
          <a:solidFill>
            <a:srgbClr val="E8ECF5">
              <a:alpha val="70000"/>
            </a:srgbClr>
          </a:solidFill>
          <a:ln w="12700">
            <a:solidFill>
              <a:srgbClr val="8090B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506182" y="2258279"/>
            <a:ext cx="0" cy="100584"/>
          </a:xfrm>
          <a:prstGeom prst="line">
            <a:avLst/>
          </a:prstGeom>
          <a:noFill/>
          <a:ln w="10160">
            <a:solidFill>
              <a:srgbClr val="8090B8">
                <a:alpha val="80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052008" y="3000261"/>
            <a:ext cx="1501741" cy="91440"/>
          </a:xfrm>
          <a:prstGeom prst="rect">
            <a:avLst/>
          </a:prstGeom>
          <a:solidFill>
            <a:srgbClr val="D8E8F2">
              <a:alpha val="70000"/>
            </a:srgbClr>
          </a:solidFill>
          <a:ln w="12700">
            <a:solidFill>
              <a:srgbClr val="4A88B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802519" y="2463682"/>
            <a:ext cx="0" cy="100584"/>
          </a:xfrm>
          <a:prstGeom prst="line">
            <a:avLst/>
          </a:prstGeom>
          <a:noFill/>
          <a:ln w="10160">
            <a:solidFill>
              <a:srgbClr val="4A88B8">
                <a:alpha val="80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553749" y="3000261"/>
            <a:ext cx="1949175" cy="91440"/>
          </a:xfrm>
          <a:prstGeom prst="rect">
            <a:avLst/>
          </a:prstGeom>
          <a:solidFill>
            <a:srgbClr val="D4EEE2">
              <a:alpha val="70000"/>
            </a:srgbClr>
          </a:solidFill>
          <a:ln w="12700">
            <a:solidFill>
              <a:srgbClr val="2A8A5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528337" y="2687040"/>
            <a:ext cx="0" cy="100584"/>
          </a:xfrm>
          <a:prstGeom prst="line">
            <a:avLst/>
          </a:prstGeom>
          <a:noFill/>
          <a:ln w="10160">
            <a:solidFill>
              <a:srgbClr val="2A8A5A">
                <a:alpha val="80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502924" y="3000261"/>
            <a:ext cx="2586212" cy="91440"/>
          </a:xfrm>
          <a:prstGeom prst="rect">
            <a:avLst/>
          </a:prstGeom>
          <a:solidFill>
            <a:srgbClr val="FAE8E0">
              <a:alpha val="70000"/>
            </a:srgbClr>
          </a:solidFill>
          <a:ln w="12700">
            <a:solidFill>
              <a:srgbClr val="C8502A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726006" y="2936253"/>
            <a:ext cx="0" cy="100584"/>
          </a:xfrm>
          <a:prstGeom prst="line">
            <a:avLst/>
          </a:prstGeom>
          <a:noFill/>
          <a:ln w="10160">
            <a:solidFill>
              <a:srgbClr val="C8502A">
                <a:alpha val="8000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997050" y="3091701"/>
            <a:ext cx="1051301" cy="237744"/>
          </a:xfrm>
          <a:prstGeom prst="rect">
            <a:avLst/>
          </a:prstGeom>
          <a:solidFill>
            <a:srgbClr val="1A2648"/>
          </a:solidFill>
          <a:ln w="12700">
            <a:solidFill>
              <a:srgbClr val="1A264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029968" y="3091701"/>
            <a:ext cx="10037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現在 (As is)</a:t>
            </a:r>
            <a:endParaRPr lang="en-US" sz="650" dirty="0"/>
          </a:p>
        </p:txBody>
      </p:sp>
      <p:sp>
        <p:nvSpPr>
          <p:cNvPr id="36" name="Shape 34"/>
          <p:cNvSpPr/>
          <p:nvPr/>
        </p:nvSpPr>
        <p:spPr>
          <a:xfrm>
            <a:off x="3055666" y="3091701"/>
            <a:ext cx="1494426" cy="237744"/>
          </a:xfrm>
          <a:prstGeom prst="rect">
            <a:avLst/>
          </a:prstGeom>
          <a:solidFill>
            <a:srgbClr val="1A2648"/>
          </a:solidFill>
          <a:ln w="12700">
            <a:solidFill>
              <a:srgbClr val="1A264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088584" y="3091701"/>
            <a:ext cx="144687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戦略投資フェーズⅠ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4557407" y="3091701"/>
            <a:ext cx="1941860" cy="237744"/>
          </a:xfrm>
          <a:prstGeom prst="rect">
            <a:avLst/>
          </a:prstGeom>
          <a:solidFill>
            <a:srgbClr val="1A2648"/>
          </a:solidFill>
          <a:ln w="12700">
            <a:solidFill>
              <a:srgbClr val="1A264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590325" y="3091701"/>
            <a:ext cx="189431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 戦略投資フェーズⅡ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506582" y="3091701"/>
            <a:ext cx="2578897" cy="237744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539500" y="3091701"/>
            <a:ext cx="25313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④ 都市開発事業の確立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572" y="3091701"/>
            <a:ext cx="1988820" cy="237744"/>
          </a:xfrm>
          <a:prstGeom prst="rect">
            <a:avLst/>
          </a:prstGeom>
          <a:solidFill>
            <a:srgbClr val="1A2648"/>
          </a:solidFill>
          <a:ln w="12700">
            <a:solidFill>
              <a:srgbClr val="1A264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91440" y="3091701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必要機能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4572" y="3329445"/>
            <a:ext cx="1988820" cy="159003"/>
          </a:xfrm>
          <a:prstGeom prst="rect">
            <a:avLst/>
          </a:prstGeom>
          <a:solidFill>
            <a:srgbClr val="F2F4F7"/>
          </a:solidFill>
          <a:ln w="4445">
            <a:solidFill>
              <a:srgbClr val="CACDD8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572" y="3329445"/>
            <a:ext cx="45720" cy="159003"/>
          </a:xfrm>
          <a:prstGeom prst="rect">
            <a:avLst/>
          </a:prstGeom>
          <a:solidFill>
            <a:srgbClr val="344E8A"/>
          </a:solidFill>
          <a:ln w="12700">
            <a:solidFill>
              <a:srgbClr val="344E8A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2296" y="3329445"/>
            <a:ext cx="1911096" cy="1590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多様なアセットクラスへの対応力</a:t>
            </a:r>
            <a:endParaRPr lang="en-US" sz="800" dirty="0"/>
          </a:p>
        </p:txBody>
      </p:sp>
      <p:sp>
        <p:nvSpPr>
          <p:cNvPr id="47" name="Shape 45"/>
          <p:cNvSpPr/>
          <p:nvPr/>
        </p:nvSpPr>
        <p:spPr>
          <a:xfrm>
            <a:off x="1997050" y="3329445"/>
            <a:ext cx="1051301" cy="159003"/>
          </a:xfrm>
          <a:prstGeom prst="rect">
            <a:avLst/>
          </a:prstGeom>
          <a:solidFill>
            <a:srgbClr val="F2F4F7"/>
          </a:solidFill>
          <a:ln w="4445">
            <a:solidFill>
              <a:srgbClr val="CACDD8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1997050" y="3329445"/>
            <a:ext cx="1051301" cy="1590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8A9A"/>
                </a:solidFill>
              </a:rPr>
              <a:t>―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055666" y="3329445"/>
            <a:ext cx="1494426" cy="159003"/>
          </a:xfrm>
          <a:prstGeom prst="rect">
            <a:avLst/>
          </a:prstGeom>
          <a:solidFill>
            <a:srgbClr val="FFF0F2"/>
          </a:solidFill>
          <a:ln w="19050">
            <a:solidFill>
              <a:srgbClr val="C8102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055666" y="3329445"/>
            <a:ext cx="1494426" cy="1590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" b="1" dirty="0">
                <a:solidFill>
                  <a:srgbClr val="C810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● 獲得</a:t>
            </a:r>
            <a:endParaRPr lang="en-US" sz="285" dirty="0"/>
          </a:p>
        </p:txBody>
      </p:sp>
      <p:sp>
        <p:nvSpPr>
          <p:cNvPr id="51" name="Shape 49"/>
          <p:cNvSpPr/>
          <p:nvPr/>
        </p:nvSpPr>
        <p:spPr>
          <a:xfrm>
            <a:off x="4557407" y="3329445"/>
            <a:ext cx="1941860" cy="159003"/>
          </a:xfrm>
          <a:prstGeom prst="rect">
            <a:avLst/>
          </a:prstGeom>
          <a:solidFill>
            <a:srgbClr val="F0F7F3"/>
          </a:solidFill>
          <a:ln w="8890">
            <a:solidFill>
              <a:srgbClr val="2A7A5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557407" y="3329445"/>
            <a:ext cx="1941860" cy="1590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" b="1" dirty="0">
                <a:solidFill>
                  <a:srgbClr val="2A7A50"/>
                </a:solidFill>
              </a:rPr>
              <a:t>✓</a:t>
            </a:r>
            <a:endParaRPr lang="en-US" sz="320" dirty="0"/>
          </a:p>
        </p:txBody>
      </p:sp>
      <p:sp>
        <p:nvSpPr>
          <p:cNvPr id="53" name="Shape 51"/>
          <p:cNvSpPr/>
          <p:nvPr/>
        </p:nvSpPr>
        <p:spPr>
          <a:xfrm>
            <a:off x="6506582" y="3329445"/>
            <a:ext cx="2578897" cy="159003"/>
          </a:xfrm>
          <a:prstGeom prst="rect">
            <a:avLst/>
          </a:prstGeom>
          <a:solidFill>
            <a:srgbClr val="F0F7F3"/>
          </a:solidFill>
          <a:ln w="8890">
            <a:solidFill>
              <a:srgbClr val="2A7A50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506582" y="3329445"/>
            <a:ext cx="2578897" cy="1590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" b="1" dirty="0">
                <a:solidFill>
                  <a:srgbClr val="2A7A50"/>
                </a:solidFill>
              </a:rPr>
              <a:t>✓</a:t>
            </a:r>
            <a:endParaRPr lang="en-US" sz="320" dirty="0"/>
          </a:p>
        </p:txBody>
      </p:sp>
      <p:sp>
        <p:nvSpPr>
          <p:cNvPr id="55" name="Shape 53"/>
          <p:cNvSpPr/>
          <p:nvPr/>
        </p:nvSpPr>
        <p:spPr>
          <a:xfrm>
            <a:off x="4572" y="3492105"/>
            <a:ext cx="1988820" cy="159003"/>
          </a:xfrm>
          <a:prstGeom prst="rect">
            <a:avLst/>
          </a:prstGeom>
          <a:solidFill>
            <a:srgbClr val="E8EBF0"/>
          </a:solidFill>
          <a:ln w="4445">
            <a:solidFill>
              <a:srgbClr val="CACDD8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4572" y="3492105"/>
            <a:ext cx="45720" cy="159003"/>
          </a:xfrm>
          <a:prstGeom prst="rect">
            <a:avLst/>
          </a:prstGeom>
          <a:solidFill>
            <a:srgbClr val="344E8A"/>
          </a:solidFill>
          <a:ln w="12700">
            <a:solidFill>
              <a:srgbClr val="344E8A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82296" y="3492105"/>
            <a:ext cx="1911096" cy="1590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産業・商業複合型 企画・ソーシング力</a:t>
            </a:r>
            <a:endParaRPr lang="en-US" sz="800" dirty="0"/>
          </a:p>
        </p:txBody>
      </p:sp>
      <p:sp>
        <p:nvSpPr>
          <p:cNvPr id="58" name="Shape 56"/>
          <p:cNvSpPr/>
          <p:nvPr/>
        </p:nvSpPr>
        <p:spPr>
          <a:xfrm>
            <a:off x="1997050" y="3492105"/>
            <a:ext cx="1051301" cy="159003"/>
          </a:xfrm>
          <a:prstGeom prst="rect">
            <a:avLst/>
          </a:prstGeom>
          <a:solidFill>
            <a:srgbClr val="E8EBF0"/>
          </a:solidFill>
          <a:ln w="4445">
            <a:solidFill>
              <a:srgbClr val="CACDD8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1997050" y="3492105"/>
            <a:ext cx="1051301" cy="1590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8A9A"/>
                </a:solidFill>
              </a:rPr>
              <a:t>―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3055666" y="3492105"/>
            <a:ext cx="1494426" cy="159003"/>
          </a:xfrm>
          <a:prstGeom prst="rect">
            <a:avLst/>
          </a:prstGeom>
          <a:solidFill>
            <a:srgbClr val="FFF0F2"/>
          </a:solidFill>
          <a:ln w="19050">
            <a:solidFill>
              <a:srgbClr val="C8102E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3055666" y="3492105"/>
            <a:ext cx="1494426" cy="1590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" b="1" dirty="0">
                <a:solidFill>
                  <a:srgbClr val="C810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● 獲得</a:t>
            </a:r>
            <a:endParaRPr lang="en-US" sz="285" dirty="0"/>
          </a:p>
        </p:txBody>
      </p:sp>
      <p:sp>
        <p:nvSpPr>
          <p:cNvPr id="62" name="Shape 60"/>
          <p:cNvSpPr/>
          <p:nvPr/>
        </p:nvSpPr>
        <p:spPr>
          <a:xfrm>
            <a:off x="4557407" y="3492105"/>
            <a:ext cx="1941860" cy="159003"/>
          </a:xfrm>
          <a:prstGeom prst="rect">
            <a:avLst/>
          </a:prstGeom>
          <a:solidFill>
            <a:srgbClr val="F0F7F3"/>
          </a:solidFill>
          <a:ln w="8890">
            <a:solidFill>
              <a:srgbClr val="2A7A50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4557407" y="3492105"/>
            <a:ext cx="1941860" cy="1590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" b="1" dirty="0">
                <a:solidFill>
                  <a:srgbClr val="2A7A50"/>
                </a:solidFill>
              </a:rPr>
              <a:t>✓</a:t>
            </a:r>
            <a:endParaRPr lang="en-US" sz="320" dirty="0"/>
          </a:p>
        </p:txBody>
      </p:sp>
      <p:sp>
        <p:nvSpPr>
          <p:cNvPr id="64" name="Shape 62"/>
          <p:cNvSpPr/>
          <p:nvPr/>
        </p:nvSpPr>
        <p:spPr>
          <a:xfrm>
            <a:off x="6506582" y="3492105"/>
            <a:ext cx="2578897" cy="159003"/>
          </a:xfrm>
          <a:prstGeom prst="rect">
            <a:avLst/>
          </a:prstGeom>
          <a:solidFill>
            <a:srgbClr val="F0F7F3"/>
          </a:solidFill>
          <a:ln w="8890">
            <a:solidFill>
              <a:srgbClr val="2A7A5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6506582" y="3492105"/>
            <a:ext cx="2578897" cy="1590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" b="1" dirty="0">
                <a:solidFill>
                  <a:srgbClr val="2A7A50"/>
                </a:solidFill>
              </a:rPr>
              <a:t>✓</a:t>
            </a:r>
            <a:endParaRPr lang="en-US" sz="320" dirty="0"/>
          </a:p>
        </p:txBody>
      </p:sp>
      <p:sp>
        <p:nvSpPr>
          <p:cNvPr id="66" name="Shape 64"/>
          <p:cNvSpPr/>
          <p:nvPr/>
        </p:nvSpPr>
        <p:spPr>
          <a:xfrm>
            <a:off x="4572" y="3654766"/>
            <a:ext cx="1988820" cy="159003"/>
          </a:xfrm>
          <a:prstGeom prst="rect">
            <a:avLst/>
          </a:prstGeom>
          <a:solidFill>
            <a:srgbClr val="F2F4F7"/>
          </a:solidFill>
          <a:ln w="4445">
            <a:solidFill>
              <a:srgbClr val="CACDD8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4572" y="3654766"/>
            <a:ext cx="45720" cy="159003"/>
          </a:xfrm>
          <a:prstGeom prst="rect">
            <a:avLst/>
          </a:prstGeom>
          <a:solidFill>
            <a:srgbClr val="344E8A"/>
          </a:solidFill>
          <a:ln w="12700">
            <a:solidFill>
              <a:srgbClr val="344E8A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82296" y="3654766"/>
            <a:ext cx="1911096" cy="1590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バリューアップ型開発機能</a:t>
            </a:r>
            <a:endParaRPr lang="en-US" sz="800" dirty="0"/>
          </a:p>
        </p:txBody>
      </p:sp>
      <p:sp>
        <p:nvSpPr>
          <p:cNvPr id="69" name="Shape 67"/>
          <p:cNvSpPr/>
          <p:nvPr/>
        </p:nvSpPr>
        <p:spPr>
          <a:xfrm>
            <a:off x="1997050" y="3654766"/>
            <a:ext cx="1051301" cy="159003"/>
          </a:xfrm>
          <a:prstGeom prst="rect">
            <a:avLst/>
          </a:prstGeom>
          <a:solidFill>
            <a:srgbClr val="F2F4F7"/>
          </a:solidFill>
          <a:ln w="4445">
            <a:solidFill>
              <a:srgbClr val="CACDD8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1997050" y="3654766"/>
            <a:ext cx="1051301" cy="1590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8A9A"/>
                </a:solidFill>
              </a:rPr>
              <a:t>―</a:t>
            </a:r>
            <a:endParaRPr lang="en-US" sz="900" dirty="0"/>
          </a:p>
        </p:txBody>
      </p:sp>
      <p:sp>
        <p:nvSpPr>
          <p:cNvPr id="71" name="Shape 69"/>
          <p:cNvSpPr/>
          <p:nvPr/>
        </p:nvSpPr>
        <p:spPr>
          <a:xfrm>
            <a:off x="3055666" y="3654766"/>
            <a:ext cx="1494426" cy="159003"/>
          </a:xfrm>
          <a:prstGeom prst="rect">
            <a:avLst/>
          </a:prstGeom>
          <a:solidFill>
            <a:srgbClr val="F2F4F7"/>
          </a:solidFill>
          <a:ln w="4445">
            <a:solidFill>
              <a:srgbClr val="CACDD8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3055666" y="3654766"/>
            <a:ext cx="1494426" cy="1590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8A9A"/>
                </a:solidFill>
              </a:rPr>
              <a:t>―</a:t>
            </a:r>
            <a:endParaRPr lang="en-US" sz="900" dirty="0"/>
          </a:p>
        </p:txBody>
      </p:sp>
      <p:sp>
        <p:nvSpPr>
          <p:cNvPr id="73" name="Shape 71"/>
          <p:cNvSpPr/>
          <p:nvPr/>
        </p:nvSpPr>
        <p:spPr>
          <a:xfrm>
            <a:off x="4557407" y="3654766"/>
            <a:ext cx="1941860" cy="159003"/>
          </a:xfrm>
          <a:prstGeom prst="rect">
            <a:avLst/>
          </a:prstGeom>
          <a:solidFill>
            <a:srgbClr val="FFF0F2"/>
          </a:solidFill>
          <a:ln w="19050">
            <a:solidFill>
              <a:srgbClr val="C8102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4557407" y="3654766"/>
            <a:ext cx="1941860" cy="1590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" b="1" dirty="0">
                <a:solidFill>
                  <a:srgbClr val="C810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● 獲得</a:t>
            </a:r>
            <a:endParaRPr lang="en-US" sz="285" dirty="0"/>
          </a:p>
        </p:txBody>
      </p:sp>
      <p:sp>
        <p:nvSpPr>
          <p:cNvPr id="75" name="Shape 73"/>
          <p:cNvSpPr/>
          <p:nvPr/>
        </p:nvSpPr>
        <p:spPr>
          <a:xfrm>
            <a:off x="6506582" y="3654766"/>
            <a:ext cx="2578897" cy="159003"/>
          </a:xfrm>
          <a:prstGeom prst="rect">
            <a:avLst/>
          </a:prstGeom>
          <a:solidFill>
            <a:srgbClr val="F0F7F3"/>
          </a:solidFill>
          <a:ln w="8890">
            <a:solidFill>
              <a:srgbClr val="2A7A50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506582" y="3654766"/>
            <a:ext cx="2578897" cy="1590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" b="1" dirty="0">
                <a:solidFill>
                  <a:srgbClr val="2A7A50"/>
                </a:solidFill>
              </a:rPr>
              <a:t>✓</a:t>
            </a:r>
            <a:endParaRPr lang="en-US" sz="320" dirty="0"/>
          </a:p>
        </p:txBody>
      </p:sp>
      <p:sp>
        <p:nvSpPr>
          <p:cNvPr id="77" name="Shape 75"/>
          <p:cNvSpPr/>
          <p:nvPr/>
        </p:nvSpPr>
        <p:spPr>
          <a:xfrm>
            <a:off x="4572" y="3817426"/>
            <a:ext cx="1988820" cy="159003"/>
          </a:xfrm>
          <a:prstGeom prst="rect">
            <a:avLst/>
          </a:prstGeom>
          <a:solidFill>
            <a:srgbClr val="E8EBF0"/>
          </a:solidFill>
          <a:ln w="4445">
            <a:solidFill>
              <a:srgbClr val="CACDD8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4572" y="3817426"/>
            <a:ext cx="45720" cy="159003"/>
          </a:xfrm>
          <a:prstGeom prst="rect">
            <a:avLst/>
          </a:prstGeom>
          <a:solidFill>
            <a:srgbClr val="344E8A"/>
          </a:solidFill>
          <a:ln w="12700">
            <a:solidFill>
              <a:srgbClr val="344E8A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82296" y="3817426"/>
            <a:ext cx="1911096" cy="1590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開発〜Exitの収益サイクル確立</a:t>
            </a:r>
            <a:endParaRPr lang="en-US" sz="800" dirty="0"/>
          </a:p>
        </p:txBody>
      </p:sp>
      <p:sp>
        <p:nvSpPr>
          <p:cNvPr id="80" name="Shape 78"/>
          <p:cNvSpPr/>
          <p:nvPr/>
        </p:nvSpPr>
        <p:spPr>
          <a:xfrm>
            <a:off x="1997050" y="3817426"/>
            <a:ext cx="1051301" cy="159003"/>
          </a:xfrm>
          <a:prstGeom prst="rect">
            <a:avLst/>
          </a:prstGeom>
          <a:solidFill>
            <a:srgbClr val="E8EBF0"/>
          </a:solidFill>
          <a:ln w="4445">
            <a:solidFill>
              <a:srgbClr val="CACDD8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1997050" y="3817426"/>
            <a:ext cx="1051301" cy="1590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8A9A"/>
                </a:solidFill>
              </a:rPr>
              <a:t>―</a:t>
            </a:r>
            <a:endParaRPr lang="en-US" sz="900" dirty="0"/>
          </a:p>
        </p:txBody>
      </p:sp>
      <p:sp>
        <p:nvSpPr>
          <p:cNvPr id="82" name="Shape 80"/>
          <p:cNvSpPr/>
          <p:nvPr/>
        </p:nvSpPr>
        <p:spPr>
          <a:xfrm>
            <a:off x="3055666" y="3817426"/>
            <a:ext cx="1494426" cy="159003"/>
          </a:xfrm>
          <a:prstGeom prst="rect">
            <a:avLst/>
          </a:prstGeom>
          <a:solidFill>
            <a:srgbClr val="E8EBF0"/>
          </a:solidFill>
          <a:ln w="4445">
            <a:solidFill>
              <a:srgbClr val="CACDD8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3055666" y="3817426"/>
            <a:ext cx="1494426" cy="1590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8A9A"/>
                </a:solidFill>
              </a:rPr>
              <a:t>―</a:t>
            </a:r>
            <a:endParaRPr lang="en-US" sz="900" dirty="0"/>
          </a:p>
        </p:txBody>
      </p:sp>
      <p:sp>
        <p:nvSpPr>
          <p:cNvPr id="84" name="Shape 82"/>
          <p:cNvSpPr/>
          <p:nvPr/>
        </p:nvSpPr>
        <p:spPr>
          <a:xfrm>
            <a:off x="4557407" y="3817426"/>
            <a:ext cx="1941860" cy="159003"/>
          </a:xfrm>
          <a:prstGeom prst="rect">
            <a:avLst/>
          </a:prstGeom>
          <a:solidFill>
            <a:srgbClr val="FFF0F2"/>
          </a:solidFill>
          <a:ln w="19050">
            <a:solidFill>
              <a:srgbClr val="C8102E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4557407" y="3817426"/>
            <a:ext cx="1941860" cy="1590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" b="1" dirty="0">
                <a:solidFill>
                  <a:srgbClr val="C810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● 獲得</a:t>
            </a:r>
            <a:endParaRPr lang="en-US" sz="285" dirty="0"/>
          </a:p>
        </p:txBody>
      </p:sp>
      <p:sp>
        <p:nvSpPr>
          <p:cNvPr id="86" name="Shape 84"/>
          <p:cNvSpPr/>
          <p:nvPr/>
        </p:nvSpPr>
        <p:spPr>
          <a:xfrm>
            <a:off x="6506582" y="3817426"/>
            <a:ext cx="2578897" cy="159003"/>
          </a:xfrm>
          <a:prstGeom prst="rect">
            <a:avLst/>
          </a:prstGeom>
          <a:solidFill>
            <a:srgbClr val="F0F7F3"/>
          </a:solidFill>
          <a:ln w="8890">
            <a:solidFill>
              <a:srgbClr val="2A7A50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6506582" y="3817426"/>
            <a:ext cx="2578897" cy="1590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" b="1" dirty="0">
                <a:solidFill>
                  <a:srgbClr val="2A7A50"/>
                </a:solidFill>
              </a:rPr>
              <a:t>✓</a:t>
            </a:r>
            <a:endParaRPr lang="en-US" sz="320" dirty="0"/>
          </a:p>
        </p:txBody>
      </p:sp>
      <p:sp>
        <p:nvSpPr>
          <p:cNvPr id="88" name="Shape 86"/>
          <p:cNvSpPr/>
          <p:nvPr/>
        </p:nvSpPr>
        <p:spPr>
          <a:xfrm>
            <a:off x="4572" y="3980086"/>
            <a:ext cx="1988820" cy="159003"/>
          </a:xfrm>
          <a:prstGeom prst="rect">
            <a:avLst/>
          </a:prstGeom>
          <a:solidFill>
            <a:srgbClr val="F2F4F7"/>
          </a:solidFill>
          <a:ln w="4445">
            <a:solidFill>
              <a:srgbClr val="CACDD8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4572" y="3980086"/>
            <a:ext cx="45720" cy="159003"/>
          </a:xfrm>
          <a:prstGeom prst="rect">
            <a:avLst/>
          </a:prstGeom>
          <a:solidFill>
            <a:srgbClr val="2A6A8A"/>
          </a:solidFill>
          <a:ln w="12700">
            <a:solidFill>
              <a:srgbClr val="2A6A8A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82296" y="3980086"/>
            <a:ext cx="1911096" cy="1590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投資家基盤の拡充・パイプライン構築</a:t>
            </a:r>
            <a:endParaRPr lang="en-US" sz="800" dirty="0"/>
          </a:p>
        </p:txBody>
      </p:sp>
      <p:sp>
        <p:nvSpPr>
          <p:cNvPr id="91" name="Shape 89"/>
          <p:cNvSpPr/>
          <p:nvPr/>
        </p:nvSpPr>
        <p:spPr>
          <a:xfrm>
            <a:off x="1997050" y="3980086"/>
            <a:ext cx="1051301" cy="159003"/>
          </a:xfrm>
          <a:prstGeom prst="rect">
            <a:avLst/>
          </a:prstGeom>
          <a:solidFill>
            <a:srgbClr val="F2F4F7"/>
          </a:solidFill>
          <a:ln w="4445">
            <a:solidFill>
              <a:srgbClr val="CACDD8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1997050" y="3980086"/>
            <a:ext cx="1051301" cy="1590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8A9A"/>
                </a:solidFill>
              </a:rPr>
              <a:t>―</a:t>
            </a:r>
            <a:endParaRPr lang="en-US" sz="900" dirty="0"/>
          </a:p>
        </p:txBody>
      </p:sp>
      <p:sp>
        <p:nvSpPr>
          <p:cNvPr id="93" name="Shape 91"/>
          <p:cNvSpPr/>
          <p:nvPr/>
        </p:nvSpPr>
        <p:spPr>
          <a:xfrm>
            <a:off x="3055666" y="3980086"/>
            <a:ext cx="1494426" cy="159003"/>
          </a:xfrm>
          <a:prstGeom prst="rect">
            <a:avLst/>
          </a:prstGeom>
          <a:solidFill>
            <a:srgbClr val="FFF0F2"/>
          </a:solidFill>
          <a:ln w="19050">
            <a:solidFill>
              <a:srgbClr val="C8102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3055666" y="3980086"/>
            <a:ext cx="1494426" cy="1590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" b="1" dirty="0">
                <a:solidFill>
                  <a:srgbClr val="C810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● 獲得</a:t>
            </a:r>
            <a:endParaRPr lang="en-US" sz="285" dirty="0"/>
          </a:p>
        </p:txBody>
      </p:sp>
      <p:sp>
        <p:nvSpPr>
          <p:cNvPr id="95" name="Shape 93"/>
          <p:cNvSpPr/>
          <p:nvPr/>
        </p:nvSpPr>
        <p:spPr>
          <a:xfrm>
            <a:off x="4557407" y="3980086"/>
            <a:ext cx="1941860" cy="159003"/>
          </a:xfrm>
          <a:prstGeom prst="rect">
            <a:avLst/>
          </a:prstGeom>
          <a:solidFill>
            <a:srgbClr val="F0F7F3"/>
          </a:solidFill>
          <a:ln w="8890">
            <a:solidFill>
              <a:srgbClr val="2A7A50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4557407" y="3980086"/>
            <a:ext cx="1941860" cy="1590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" b="1" dirty="0">
                <a:solidFill>
                  <a:srgbClr val="2A7A50"/>
                </a:solidFill>
              </a:rPr>
              <a:t>✓</a:t>
            </a:r>
            <a:endParaRPr lang="en-US" sz="320" dirty="0"/>
          </a:p>
        </p:txBody>
      </p:sp>
      <p:sp>
        <p:nvSpPr>
          <p:cNvPr id="97" name="Shape 95"/>
          <p:cNvSpPr/>
          <p:nvPr/>
        </p:nvSpPr>
        <p:spPr>
          <a:xfrm>
            <a:off x="6506582" y="3980086"/>
            <a:ext cx="2578897" cy="159003"/>
          </a:xfrm>
          <a:prstGeom prst="rect">
            <a:avLst/>
          </a:prstGeom>
          <a:solidFill>
            <a:srgbClr val="F0F7F3"/>
          </a:solidFill>
          <a:ln w="8890">
            <a:solidFill>
              <a:srgbClr val="2A7A50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6506582" y="3980086"/>
            <a:ext cx="2578897" cy="1590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" b="1" dirty="0">
                <a:solidFill>
                  <a:srgbClr val="2A7A50"/>
                </a:solidFill>
              </a:rPr>
              <a:t>✓</a:t>
            </a:r>
            <a:endParaRPr lang="en-US" sz="320" dirty="0"/>
          </a:p>
        </p:txBody>
      </p:sp>
      <p:sp>
        <p:nvSpPr>
          <p:cNvPr id="99" name="Shape 97"/>
          <p:cNvSpPr/>
          <p:nvPr/>
        </p:nvSpPr>
        <p:spPr>
          <a:xfrm>
            <a:off x="4572" y="4142747"/>
            <a:ext cx="1988820" cy="159003"/>
          </a:xfrm>
          <a:prstGeom prst="rect">
            <a:avLst/>
          </a:prstGeom>
          <a:solidFill>
            <a:srgbClr val="E8EBF0"/>
          </a:solidFill>
          <a:ln w="4445">
            <a:solidFill>
              <a:srgbClr val="CACDD8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4572" y="4142747"/>
            <a:ext cx="45720" cy="159003"/>
          </a:xfrm>
          <a:prstGeom prst="rect">
            <a:avLst/>
          </a:prstGeom>
          <a:solidFill>
            <a:srgbClr val="2A6A8A"/>
          </a:solidFill>
          <a:ln w="12700">
            <a:solidFill>
              <a:srgbClr val="2A6A8A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82296" y="4142747"/>
            <a:ext cx="1911096" cy="1590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ファンド組成・アセットマネジメント体制構築</a:t>
            </a:r>
            <a:endParaRPr lang="en-US" sz="800" dirty="0"/>
          </a:p>
        </p:txBody>
      </p:sp>
      <p:sp>
        <p:nvSpPr>
          <p:cNvPr id="102" name="Shape 100"/>
          <p:cNvSpPr/>
          <p:nvPr/>
        </p:nvSpPr>
        <p:spPr>
          <a:xfrm>
            <a:off x="1997050" y="4142747"/>
            <a:ext cx="1051301" cy="159003"/>
          </a:xfrm>
          <a:prstGeom prst="rect">
            <a:avLst/>
          </a:prstGeom>
          <a:solidFill>
            <a:srgbClr val="E8EBF0"/>
          </a:solidFill>
          <a:ln w="4445">
            <a:solidFill>
              <a:srgbClr val="CACDD8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1997050" y="4142747"/>
            <a:ext cx="1051301" cy="1590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8A9A"/>
                </a:solidFill>
              </a:rPr>
              <a:t>―</a:t>
            </a:r>
            <a:endParaRPr lang="en-US" sz="900" dirty="0"/>
          </a:p>
        </p:txBody>
      </p:sp>
      <p:sp>
        <p:nvSpPr>
          <p:cNvPr id="104" name="Shape 102"/>
          <p:cNvSpPr/>
          <p:nvPr/>
        </p:nvSpPr>
        <p:spPr>
          <a:xfrm>
            <a:off x="3055666" y="4142747"/>
            <a:ext cx="1494426" cy="159003"/>
          </a:xfrm>
          <a:prstGeom prst="rect">
            <a:avLst/>
          </a:prstGeom>
          <a:solidFill>
            <a:srgbClr val="FFF0F2"/>
          </a:solidFill>
          <a:ln w="19050">
            <a:solidFill>
              <a:srgbClr val="C8102E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3055666" y="4142747"/>
            <a:ext cx="1494426" cy="1590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" b="1" dirty="0">
                <a:solidFill>
                  <a:srgbClr val="C810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● 獲得</a:t>
            </a:r>
            <a:endParaRPr lang="en-US" sz="285" dirty="0"/>
          </a:p>
        </p:txBody>
      </p:sp>
      <p:sp>
        <p:nvSpPr>
          <p:cNvPr id="106" name="Shape 104"/>
          <p:cNvSpPr/>
          <p:nvPr/>
        </p:nvSpPr>
        <p:spPr>
          <a:xfrm>
            <a:off x="4557407" y="4142747"/>
            <a:ext cx="1941860" cy="159003"/>
          </a:xfrm>
          <a:prstGeom prst="rect">
            <a:avLst/>
          </a:prstGeom>
          <a:solidFill>
            <a:srgbClr val="F0F7F3"/>
          </a:solidFill>
          <a:ln w="8890">
            <a:solidFill>
              <a:srgbClr val="2A7A50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4557407" y="4142747"/>
            <a:ext cx="1941860" cy="1590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" b="1" dirty="0">
                <a:solidFill>
                  <a:srgbClr val="2A7A50"/>
                </a:solidFill>
              </a:rPr>
              <a:t>✓</a:t>
            </a:r>
            <a:endParaRPr lang="en-US" sz="320" dirty="0"/>
          </a:p>
        </p:txBody>
      </p:sp>
      <p:sp>
        <p:nvSpPr>
          <p:cNvPr id="108" name="Shape 106"/>
          <p:cNvSpPr/>
          <p:nvPr/>
        </p:nvSpPr>
        <p:spPr>
          <a:xfrm>
            <a:off x="6506582" y="4142747"/>
            <a:ext cx="2578897" cy="159003"/>
          </a:xfrm>
          <a:prstGeom prst="rect">
            <a:avLst/>
          </a:prstGeom>
          <a:solidFill>
            <a:srgbClr val="F0F7F3"/>
          </a:solidFill>
          <a:ln w="8890">
            <a:solidFill>
              <a:srgbClr val="2A7A50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6506582" y="4142747"/>
            <a:ext cx="2578897" cy="1590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" b="1" dirty="0">
                <a:solidFill>
                  <a:srgbClr val="2A7A50"/>
                </a:solidFill>
              </a:rPr>
              <a:t>✓</a:t>
            </a:r>
            <a:endParaRPr lang="en-US" sz="320" dirty="0"/>
          </a:p>
        </p:txBody>
      </p:sp>
      <p:sp>
        <p:nvSpPr>
          <p:cNvPr id="110" name="Shape 108"/>
          <p:cNvSpPr/>
          <p:nvPr/>
        </p:nvSpPr>
        <p:spPr>
          <a:xfrm>
            <a:off x="4572" y="4305407"/>
            <a:ext cx="1988820" cy="159003"/>
          </a:xfrm>
          <a:prstGeom prst="rect">
            <a:avLst/>
          </a:prstGeom>
          <a:solidFill>
            <a:srgbClr val="F2F4F7"/>
          </a:solidFill>
          <a:ln w="4445">
            <a:solidFill>
              <a:srgbClr val="CACDD8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4572" y="4305407"/>
            <a:ext cx="45720" cy="159003"/>
          </a:xfrm>
          <a:prstGeom prst="rect">
            <a:avLst/>
          </a:prstGeom>
          <a:solidFill>
            <a:srgbClr val="2A6A8A"/>
          </a:solidFill>
          <a:ln w="12700">
            <a:solidFill>
              <a:srgbClr val="2A6A8A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82296" y="4305407"/>
            <a:ext cx="1911096" cy="1590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AUM拡大・投資判断力の体系化</a:t>
            </a:r>
            <a:endParaRPr lang="en-US" sz="800" dirty="0"/>
          </a:p>
        </p:txBody>
      </p:sp>
      <p:sp>
        <p:nvSpPr>
          <p:cNvPr id="113" name="Shape 111"/>
          <p:cNvSpPr/>
          <p:nvPr/>
        </p:nvSpPr>
        <p:spPr>
          <a:xfrm>
            <a:off x="1997050" y="4305407"/>
            <a:ext cx="1051301" cy="159003"/>
          </a:xfrm>
          <a:prstGeom prst="rect">
            <a:avLst/>
          </a:prstGeom>
          <a:solidFill>
            <a:srgbClr val="F2F4F7"/>
          </a:solidFill>
          <a:ln w="4445">
            <a:solidFill>
              <a:srgbClr val="CACDD8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1997050" y="4305407"/>
            <a:ext cx="1051301" cy="1590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8A9A"/>
                </a:solidFill>
              </a:rPr>
              <a:t>―</a:t>
            </a:r>
            <a:endParaRPr lang="en-US" sz="900" dirty="0"/>
          </a:p>
        </p:txBody>
      </p:sp>
      <p:sp>
        <p:nvSpPr>
          <p:cNvPr id="115" name="Shape 113"/>
          <p:cNvSpPr/>
          <p:nvPr/>
        </p:nvSpPr>
        <p:spPr>
          <a:xfrm>
            <a:off x="3055666" y="4305407"/>
            <a:ext cx="1494426" cy="159003"/>
          </a:xfrm>
          <a:prstGeom prst="rect">
            <a:avLst/>
          </a:prstGeom>
          <a:solidFill>
            <a:srgbClr val="F2F4F7"/>
          </a:solidFill>
          <a:ln w="4445">
            <a:solidFill>
              <a:srgbClr val="CACDD8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3055666" y="4305407"/>
            <a:ext cx="1494426" cy="1590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8A9A"/>
                </a:solidFill>
              </a:rPr>
              <a:t>―</a:t>
            </a:r>
            <a:endParaRPr lang="en-US" sz="900" dirty="0"/>
          </a:p>
        </p:txBody>
      </p:sp>
      <p:sp>
        <p:nvSpPr>
          <p:cNvPr id="117" name="Shape 115"/>
          <p:cNvSpPr/>
          <p:nvPr/>
        </p:nvSpPr>
        <p:spPr>
          <a:xfrm>
            <a:off x="4557407" y="4305407"/>
            <a:ext cx="1941860" cy="159003"/>
          </a:xfrm>
          <a:prstGeom prst="rect">
            <a:avLst/>
          </a:prstGeom>
          <a:solidFill>
            <a:srgbClr val="FFF0F2"/>
          </a:solidFill>
          <a:ln w="19050">
            <a:solidFill>
              <a:srgbClr val="C8102E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4557407" y="4305407"/>
            <a:ext cx="1941860" cy="1590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" b="1" dirty="0">
                <a:solidFill>
                  <a:srgbClr val="C810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● 獲得</a:t>
            </a:r>
            <a:endParaRPr lang="en-US" sz="285" dirty="0"/>
          </a:p>
        </p:txBody>
      </p:sp>
      <p:sp>
        <p:nvSpPr>
          <p:cNvPr id="119" name="Shape 117"/>
          <p:cNvSpPr/>
          <p:nvPr/>
        </p:nvSpPr>
        <p:spPr>
          <a:xfrm>
            <a:off x="6506582" y="4305407"/>
            <a:ext cx="2578897" cy="159003"/>
          </a:xfrm>
          <a:prstGeom prst="rect">
            <a:avLst/>
          </a:prstGeom>
          <a:solidFill>
            <a:srgbClr val="F0F7F3"/>
          </a:solidFill>
          <a:ln w="8890">
            <a:solidFill>
              <a:srgbClr val="2A7A50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6506582" y="4305407"/>
            <a:ext cx="2578897" cy="1590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" b="1" dirty="0">
                <a:solidFill>
                  <a:srgbClr val="2A7A50"/>
                </a:solidFill>
              </a:rPr>
              <a:t>✓</a:t>
            </a:r>
            <a:endParaRPr lang="en-US" sz="320" dirty="0"/>
          </a:p>
        </p:txBody>
      </p:sp>
      <p:sp>
        <p:nvSpPr>
          <p:cNvPr id="121" name="Shape 119"/>
          <p:cNvSpPr/>
          <p:nvPr/>
        </p:nvSpPr>
        <p:spPr>
          <a:xfrm>
            <a:off x="4572" y="4468067"/>
            <a:ext cx="1988820" cy="159003"/>
          </a:xfrm>
          <a:prstGeom prst="rect">
            <a:avLst/>
          </a:prstGeom>
          <a:solidFill>
            <a:srgbClr val="E8EBF0"/>
          </a:solidFill>
          <a:ln w="4445">
            <a:solidFill>
              <a:srgbClr val="CACDD8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4572" y="4468067"/>
            <a:ext cx="45720" cy="159003"/>
          </a:xfrm>
          <a:prstGeom prst="rect">
            <a:avLst/>
          </a:prstGeom>
          <a:solidFill>
            <a:srgbClr val="2A6A8A"/>
          </a:solidFill>
          <a:ln w="12700">
            <a:solidFill>
              <a:srgbClr val="2A6A8A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82296" y="4468067"/>
            <a:ext cx="1911096" cy="1590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高付加価値事業の収益化</a:t>
            </a:r>
            <a:endParaRPr lang="en-US" sz="800" dirty="0"/>
          </a:p>
        </p:txBody>
      </p:sp>
      <p:sp>
        <p:nvSpPr>
          <p:cNvPr id="124" name="Shape 122"/>
          <p:cNvSpPr/>
          <p:nvPr/>
        </p:nvSpPr>
        <p:spPr>
          <a:xfrm>
            <a:off x="1997050" y="4468067"/>
            <a:ext cx="1051301" cy="159003"/>
          </a:xfrm>
          <a:prstGeom prst="rect">
            <a:avLst/>
          </a:prstGeom>
          <a:solidFill>
            <a:srgbClr val="E8EBF0"/>
          </a:solidFill>
          <a:ln w="4445">
            <a:solidFill>
              <a:srgbClr val="CACDD8"/>
            </a:solidFill>
            <a:prstDash val="solid"/>
          </a:ln>
        </p:spPr>
      </p:sp>
      <p:sp>
        <p:nvSpPr>
          <p:cNvPr id="125" name="Text 123"/>
          <p:cNvSpPr/>
          <p:nvPr/>
        </p:nvSpPr>
        <p:spPr>
          <a:xfrm>
            <a:off x="1997050" y="4468067"/>
            <a:ext cx="1051301" cy="1590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8A9A"/>
                </a:solidFill>
              </a:rPr>
              <a:t>―</a:t>
            </a:r>
            <a:endParaRPr lang="en-US" sz="900" dirty="0"/>
          </a:p>
        </p:txBody>
      </p:sp>
      <p:sp>
        <p:nvSpPr>
          <p:cNvPr id="126" name="Shape 124"/>
          <p:cNvSpPr/>
          <p:nvPr/>
        </p:nvSpPr>
        <p:spPr>
          <a:xfrm>
            <a:off x="3055666" y="4468067"/>
            <a:ext cx="1494426" cy="159003"/>
          </a:xfrm>
          <a:prstGeom prst="rect">
            <a:avLst/>
          </a:prstGeom>
          <a:solidFill>
            <a:srgbClr val="E8EBF0"/>
          </a:solidFill>
          <a:ln w="4445">
            <a:solidFill>
              <a:srgbClr val="CACDD8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3055666" y="4468067"/>
            <a:ext cx="1494426" cy="1590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8A9A"/>
                </a:solidFill>
              </a:rPr>
              <a:t>―</a:t>
            </a:r>
            <a:endParaRPr lang="en-US" sz="900" dirty="0"/>
          </a:p>
        </p:txBody>
      </p:sp>
      <p:sp>
        <p:nvSpPr>
          <p:cNvPr id="128" name="Shape 126"/>
          <p:cNvSpPr/>
          <p:nvPr/>
        </p:nvSpPr>
        <p:spPr>
          <a:xfrm>
            <a:off x="4557407" y="4468067"/>
            <a:ext cx="1941860" cy="159003"/>
          </a:xfrm>
          <a:prstGeom prst="rect">
            <a:avLst/>
          </a:prstGeom>
          <a:solidFill>
            <a:srgbClr val="E8EBF0"/>
          </a:solidFill>
          <a:ln w="4445">
            <a:solidFill>
              <a:srgbClr val="CACDD8"/>
            </a:solidFill>
            <a:prstDash val="solid"/>
          </a:ln>
        </p:spPr>
      </p:sp>
      <p:sp>
        <p:nvSpPr>
          <p:cNvPr id="129" name="Text 127"/>
          <p:cNvSpPr/>
          <p:nvPr/>
        </p:nvSpPr>
        <p:spPr>
          <a:xfrm>
            <a:off x="4557407" y="4468067"/>
            <a:ext cx="1941860" cy="1590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8A9A"/>
                </a:solidFill>
              </a:rPr>
              <a:t>―</a:t>
            </a:r>
            <a:endParaRPr lang="en-US" sz="900" dirty="0"/>
          </a:p>
        </p:txBody>
      </p:sp>
      <p:sp>
        <p:nvSpPr>
          <p:cNvPr id="130" name="Shape 128"/>
          <p:cNvSpPr/>
          <p:nvPr/>
        </p:nvSpPr>
        <p:spPr>
          <a:xfrm>
            <a:off x="6506582" y="4468067"/>
            <a:ext cx="2578897" cy="159003"/>
          </a:xfrm>
          <a:prstGeom prst="rect">
            <a:avLst/>
          </a:prstGeom>
          <a:solidFill>
            <a:srgbClr val="FFF0F2"/>
          </a:solidFill>
          <a:ln w="19050">
            <a:solidFill>
              <a:srgbClr val="C8102E"/>
            </a:solidFill>
            <a:prstDash val="solid"/>
          </a:ln>
        </p:spPr>
      </p:sp>
      <p:sp>
        <p:nvSpPr>
          <p:cNvPr id="131" name="Text 129"/>
          <p:cNvSpPr/>
          <p:nvPr/>
        </p:nvSpPr>
        <p:spPr>
          <a:xfrm>
            <a:off x="6506582" y="4468067"/>
            <a:ext cx="2578897" cy="1590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" b="1" dirty="0">
                <a:solidFill>
                  <a:srgbClr val="C810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● 獲得</a:t>
            </a:r>
            <a:endParaRPr lang="en-US" sz="285" dirty="0"/>
          </a:p>
        </p:txBody>
      </p:sp>
      <p:sp>
        <p:nvSpPr>
          <p:cNvPr id="132" name="Shape 130"/>
          <p:cNvSpPr/>
          <p:nvPr/>
        </p:nvSpPr>
        <p:spPr>
          <a:xfrm>
            <a:off x="4572" y="4630727"/>
            <a:ext cx="1988820" cy="159003"/>
          </a:xfrm>
          <a:prstGeom prst="rect">
            <a:avLst/>
          </a:prstGeom>
          <a:solidFill>
            <a:srgbClr val="F2F4F7"/>
          </a:solidFill>
          <a:ln w="4445">
            <a:solidFill>
              <a:srgbClr val="CACDD8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4572" y="4630727"/>
            <a:ext cx="45720" cy="159003"/>
          </a:xfrm>
          <a:prstGeom prst="rect">
            <a:avLst/>
          </a:prstGeom>
          <a:solidFill>
            <a:srgbClr val="2A5A7A"/>
          </a:solidFill>
          <a:ln w="12700">
            <a:solidFill>
              <a:srgbClr val="2A5A7A"/>
            </a:solidFill>
            <a:prstDash val="solid"/>
          </a:ln>
        </p:spPr>
      </p:sp>
      <p:sp>
        <p:nvSpPr>
          <p:cNvPr id="134" name="Text 132"/>
          <p:cNvSpPr/>
          <p:nvPr/>
        </p:nvSpPr>
        <p:spPr>
          <a:xfrm>
            <a:off x="82296" y="4630727"/>
            <a:ext cx="1911096" cy="1590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NOI拡大・バリューアップ機能の確立</a:t>
            </a:r>
            <a:endParaRPr lang="en-US" sz="800" dirty="0"/>
          </a:p>
        </p:txBody>
      </p:sp>
      <p:sp>
        <p:nvSpPr>
          <p:cNvPr id="135" name="Shape 133"/>
          <p:cNvSpPr/>
          <p:nvPr/>
        </p:nvSpPr>
        <p:spPr>
          <a:xfrm>
            <a:off x="1997050" y="4630727"/>
            <a:ext cx="1051301" cy="159003"/>
          </a:xfrm>
          <a:prstGeom prst="rect">
            <a:avLst/>
          </a:prstGeom>
          <a:solidFill>
            <a:srgbClr val="F2F4F7"/>
          </a:solidFill>
          <a:ln w="4445">
            <a:solidFill>
              <a:srgbClr val="CACDD8"/>
            </a:solidFill>
            <a:prstDash val="solid"/>
          </a:ln>
        </p:spPr>
      </p:sp>
      <p:sp>
        <p:nvSpPr>
          <p:cNvPr id="136" name="Text 134"/>
          <p:cNvSpPr/>
          <p:nvPr/>
        </p:nvSpPr>
        <p:spPr>
          <a:xfrm>
            <a:off x="1997050" y="4630727"/>
            <a:ext cx="1051301" cy="1590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8A9A"/>
                </a:solidFill>
              </a:rPr>
              <a:t>―</a:t>
            </a:r>
            <a:endParaRPr lang="en-US" sz="900" dirty="0"/>
          </a:p>
        </p:txBody>
      </p:sp>
      <p:sp>
        <p:nvSpPr>
          <p:cNvPr id="137" name="Shape 135"/>
          <p:cNvSpPr/>
          <p:nvPr/>
        </p:nvSpPr>
        <p:spPr>
          <a:xfrm>
            <a:off x="3055666" y="4630727"/>
            <a:ext cx="1494426" cy="159003"/>
          </a:xfrm>
          <a:prstGeom prst="rect">
            <a:avLst/>
          </a:prstGeom>
          <a:solidFill>
            <a:srgbClr val="FFF0F2"/>
          </a:solidFill>
          <a:ln w="19050">
            <a:solidFill>
              <a:srgbClr val="C8102E"/>
            </a:solidFill>
            <a:prstDash val="solid"/>
          </a:ln>
        </p:spPr>
      </p:sp>
      <p:sp>
        <p:nvSpPr>
          <p:cNvPr id="138" name="Text 136"/>
          <p:cNvSpPr/>
          <p:nvPr/>
        </p:nvSpPr>
        <p:spPr>
          <a:xfrm>
            <a:off x="3055666" y="4630727"/>
            <a:ext cx="1494426" cy="1590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" b="1" dirty="0">
                <a:solidFill>
                  <a:srgbClr val="C810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● 獲得</a:t>
            </a:r>
            <a:endParaRPr lang="en-US" sz="285" dirty="0"/>
          </a:p>
        </p:txBody>
      </p:sp>
      <p:sp>
        <p:nvSpPr>
          <p:cNvPr id="139" name="Shape 137"/>
          <p:cNvSpPr/>
          <p:nvPr/>
        </p:nvSpPr>
        <p:spPr>
          <a:xfrm>
            <a:off x="4557407" y="4630727"/>
            <a:ext cx="1941860" cy="159003"/>
          </a:xfrm>
          <a:prstGeom prst="rect">
            <a:avLst/>
          </a:prstGeom>
          <a:solidFill>
            <a:srgbClr val="F0F7F3"/>
          </a:solidFill>
          <a:ln w="8890">
            <a:solidFill>
              <a:srgbClr val="2A7A50"/>
            </a:solidFill>
            <a:prstDash val="solid"/>
          </a:ln>
        </p:spPr>
      </p:sp>
      <p:sp>
        <p:nvSpPr>
          <p:cNvPr id="140" name="Text 138"/>
          <p:cNvSpPr/>
          <p:nvPr/>
        </p:nvSpPr>
        <p:spPr>
          <a:xfrm>
            <a:off x="4557407" y="4630727"/>
            <a:ext cx="1941860" cy="1590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" b="1" dirty="0">
                <a:solidFill>
                  <a:srgbClr val="2A7A50"/>
                </a:solidFill>
              </a:rPr>
              <a:t>✓</a:t>
            </a:r>
            <a:endParaRPr lang="en-US" sz="320" dirty="0"/>
          </a:p>
        </p:txBody>
      </p:sp>
      <p:sp>
        <p:nvSpPr>
          <p:cNvPr id="141" name="Shape 139"/>
          <p:cNvSpPr/>
          <p:nvPr/>
        </p:nvSpPr>
        <p:spPr>
          <a:xfrm>
            <a:off x="6506582" y="4630727"/>
            <a:ext cx="2578897" cy="159003"/>
          </a:xfrm>
          <a:prstGeom prst="rect">
            <a:avLst/>
          </a:prstGeom>
          <a:solidFill>
            <a:srgbClr val="F0F7F3"/>
          </a:solidFill>
          <a:ln w="8890">
            <a:solidFill>
              <a:srgbClr val="2A7A50"/>
            </a:solidFill>
            <a:prstDash val="solid"/>
          </a:ln>
        </p:spPr>
      </p:sp>
      <p:sp>
        <p:nvSpPr>
          <p:cNvPr id="142" name="Text 140"/>
          <p:cNvSpPr/>
          <p:nvPr/>
        </p:nvSpPr>
        <p:spPr>
          <a:xfrm>
            <a:off x="6506582" y="4630727"/>
            <a:ext cx="2578897" cy="1590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" b="1" dirty="0">
                <a:solidFill>
                  <a:srgbClr val="2A7A50"/>
                </a:solidFill>
              </a:rPr>
              <a:t>✓</a:t>
            </a:r>
            <a:endParaRPr lang="en-US" sz="320" dirty="0"/>
          </a:p>
        </p:txBody>
      </p:sp>
      <p:sp>
        <p:nvSpPr>
          <p:cNvPr id="143" name="Shape 141"/>
          <p:cNvSpPr/>
          <p:nvPr/>
        </p:nvSpPr>
        <p:spPr>
          <a:xfrm>
            <a:off x="4572" y="4793388"/>
            <a:ext cx="1988820" cy="159003"/>
          </a:xfrm>
          <a:prstGeom prst="rect">
            <a:avLst/>
          </a:prstGeom>
          <a:solidFill>
            <a:srgbClr val="E8EBF0"/>
          </a:solidFill>
          <a:ln w="4445">
            <a:solidFill>
              <a:srgbClr val="CACDD8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4572" y="4793388"/>
            <a:ext cx="45720" cy="159003"/>
          </a:xfrm>
          <a:prstGeom prst="rect">
            <a:avLst/>
          </a:prstGeom>
          <a:solidFill>
            <a:srgbClr val="2A5A7A"/>
          </a:solidFill>
          <a:ln w="12700">
            <a:solidFill>
              <a:srgbClr val="2A5A7A"/>
            </a:solidFill>
            <a:prstDash val="solid"/>
          </a:ln>
        </p:spPr>
      </p:sp>
      <p:sp>
        <p:nvSpPr>
          <p:cNvPr id="145" name="Text 143"/>
          <p:cNvSpPr/>
          <p:nvPr/>
        </p:nvSpPr>
        <p:spPr>
          <a:xfrm>
            <a:off x="82296" y="4793388"/>
            <a:ext cx="1911096" cy="1590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関連事業の再編・都市運営プラットフォーム確立</a:t>
            </a:r>
            <a:endParaRPr lang="en-US" sz="800" dirty="0"/>
          </a:p>
        </p:txBody>
      </p:sp>
      <p:sp>
        <p:nvSpPr>
          <p:cNvPr id="146" name="Shape 144"/>
          <p:cNvSpPr/>
          <p:nvPr/>
        </p:nvSpPr>
        <p:spPr>
          <a:xfrm>
            <a:off x="1997050" y="4793388"/>
            <a:ext cx="1051301" cy="159003"/>
          </a:xfrm>
          <a:prstGeom prst="rect">
            <a:avLst/>
          </a:prstGeom>
          <a:solidFill>
            <a:srgbClr val="E8EBF0"/>
          </a:solidFill>
          <a:ln w="4445">
            <a:solidFill>
              <a:srgbClr val="CACDD8"/>
            </a:solidFill>
            <a:prstDash val="solid"/>
          </a:ln>
        </p:spPr>
      </p:sp>
      <p:sp>
        <p:nvSpPr>
          <p:cNvPr id="147" name="Text 145"/>
          <p:cNvSpPr/>
          <p:nvPr/>
        </p:nvSpPr>
        <p:spPr>
          <a:xfrm>
            <a:off x="1997050" y="4793388"/>
            <a:ext cx="1051301" cy="1590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8A9A"/>
                </a:solidFill>
              </a:rPr>
              <a:t>―</a:t>
            </a:r>
            <a:endParaRPr lang="en-US" sz="900" dirty="0"/>
          </a:p>
        </p:txBody>
      </p:sp>
      <p:sp>
        <p:nvSpPr>
          <p:cNvPr id="148" name="Shape 146"/>
          <p:cNvSpPr/>
          <p:nvPr/>
        </p:nvSpPr>
        <p:spPr>
          <a:xfrm>
            <a:off x="3055666" y="4793388"/>
            <a:ext cx="1494426" cy="159003"/>
          </a:xfrm>
          <a:prstGeom prst="rect">
            <a:avLst/>
          </a:prstGeom>
          <a:solidFill>
            <a:srgbClr val="E8EBF0"/>
          </a:solidFill>
          <a:ln w="4445">
            <a:solidFill>
              <a:srgbClr val="CACDD8"/>
            </a:solidFill>
            <a:prstDash val="solid"/>
          </a:ln>
        </p:spPr>
      </p:sp>
      <p:sp>
        <p:nvSpPr>
          <p:cNvPr id="149" name="Text 147"/>
          <p:cNvSpPr/>
          <p:nvPr/>
        </p:nvSpPr>
        <p:spPr>
          <a:xfrm>
            <a:off x="3055666" y="4793388"/>
            <a:ext cx="1494426" cy="1590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8A9A"/>
                </a:solidFill>
              </a:rPr>
              <a:t>―</a:t>
            </a:r>
            <a:endParaRPr lang="en-US" sz="900" dirty="0"/>
          </a:p>
        </p:txBody>
      </p:sp>
      <p:sp>
        <p:nvSpPr>
          <p:cNvPr id="150" name="Shape 148"/>
          <p:cNvSpPr/>
          <p:nvPr/>
        </p:nvSpPr>
        <p:spPr>
          <a:xfrm>
            <a:off x="4557407" y="4793388"/>
            <a:ext cx="1941860" cy="159003"/>
          </a:xfrm>
          <a:prstGeom prst="rect">
            <a:avLst/>
          </a:prstGeom>
          <a:solidFill>
            <a:srgbClr val="FFF0F2"/>
          </a:solidFill>
          <a:ln w="19050">
            <a:solidFill>
              <a:srgbClr val="C8102E"/>
            </a:solidFill>
            <a:prstDash val="solid"/>
          </a:ln>
        </p:spPr>
      </p:sp>
      <p:sp>
        <p:nvSpPr>
          <p:cNvPr id="151" name="Text 149"/>
          <p:cNvSpPr/>
          <p:nvPr/>
        </p:nvSpPr>
        <p:spPr>
          <a:xfrm>
            <a:off x="4557407" y="4793388"/>
            <a:ext cx="1941860" cy="1590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" b="1" dirty="0">
                <a:solidFill>
                  <a:srgbClr val="C810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● 獲得</a:t>
            </a:r>
            <a:endParaRPr lang="en-US" sz="285" dirty="0"/>
          </a:p>
        </p:txBody>
      </p:sp>
      <p:sp>
        <p:nvSpPr>
          <p:cNvPr id="152" name="Shape 150"/>
          <p:cNvSpPr/>
          <p:nvPr/>
        </p:nvSpPr>
        <p:spPr>
          <a:xfrm>
            <a:off x="6506582" y="4793388"/>
            <a:ext cx="2578897" cy="159003"/>
          </a:xfrm>
          <a:prstGeom prst="rect">
            <a:avLst/>
          </a:prstGeom>
          <a:solidFill>
            <a:srgbClr val="F0F7F3"/>
          </a:solidFill>
          <a:ln w="8890">
            <a:solidFill>
              <a:srgbClr val="2A7A50"/>
            </a:solidFill>
            <a:prstDash val="solid"/>
          </a:ln>
        </p:spPr>
      </p:sp>
      <p:sp>
        <p:nvSpPr>
          <p:cNvPr id="153" name="Text 151"/>
          <p:cNvSpPr/>
          <p:nvPr/>
        </p:nvSpPr>
        <p:spPr>
          <a:xfrm>
            <a:off x="6506582" y="4793388"/>
            <a:ext cx="2578897" cy="1590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" b="1" dirty="0">
                <a:solidFill>
                  <a:srgbClr val="2A7A50"/>
                </a:solidFill>
              </a:rPr>
              <a:t>✓</a:t>
            </a:r>
            <a:endParaRPr lang="en-US" sz="320" dirty="0"/>
          </a:p>
        </p:txBody>
      </p:sp>
      <p:sp>
        <p:nvSpPr>
          <p:cNvPr id="154" name="Shape 152"/>
          <p:cNvSpPr/>
          <p:nvPr/>
        </p:nvSpPr>
        <p:spPr>
          <a:xfrm>
            <a:off x="3052008" y="3091701"/>
            <a:ext cx="0" cy="1873491"/>
          </a:xfrm>
          <a:prstGeom prst="line">
            <a:avLst/>
          </a:prstGeom>
          <a:noFill/>
          <a:ln w="7620">
            <a:solidFill>
              <a:srgbClr val="CACDD8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4553749" y="3091701"/>
            <a:ext cx="0" cy="1873491"/>
          </a:xfrm>
          <a:prstGeom prst="line">
            <a:avLst/>
          </a:prstGeom>
          <a:noFill/>
          <a:ln w="7620">
            <a:solidFill>
              <a:srgbClr val="CACDD8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6502924" y="3091701"/>
            <a:ext cx="0" cy="1873491"/>
          </a:xfrm>
          <a:prstGeom prst="line">
            <a:avLst/>
          </a:prstGeom>
          <a:noFill/>
          <a:ln w="7620">
            <a:solidFill>
              <a:srgbClr val="CACDD8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4572" y="3972771"/>
            <a:ext cx="9134856" cy="12802"/>
          </a:xfrm>
          <a:prstGeom prst="rect">
            <a:avLst/>
          </a:prstGeom>
          <a:solidFill>
            <a:srgbClr val="1A2648">
              <a:alpha val="20000"/>
            </a:srgbClr>
          </a:solidFill>
          <a:ln w="12700">
            <a:solidFill>
              <a:srgbClr val="1A2648">
                <a:alpha val="20000"/>
              </a:srgbClr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4572" y="4623412"/>
            <a:ext cx="9134856" cy="12802"/>
          </a:xfrm>
          <a:prstGeom prst="rect">
            <a:avLst/>
          </a:prstGeom>
          <a:solidFill>
            <a:srgbClr val="1A2648">
              <a:alpha val="20000"/>
            </a:srgbClr>
          </a:solidFill>
          <a:ln w="12700">
            <a:solidFill>
              <a:srgbClr val="1A2648">
                <a:alpha val="20000"/>
              </a:srgbClr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9025128" y="3338589"/>
            <a:ext cx="109728" cy="632353"/>
          </a:xfrm>
          <a:prstGeom prst="rect">
            <a:avLst/>
          </a:prstGeom>
          <a:solidFill>
            <a:srgbClr val="1A2648">
              <a:alpha val="15000"/>
            </a:srgbClr>
          </a:solidFill>
          <a:ln w="6350">
            <a:solidFill>
              <a:srgbClr val="CACDD8"/>
            </a:solidFill>
            <a:prstDash val="solid"/>
          </a:ln>
        </p:spPr>
      </p:sp>
      <p:sp>
        <p:nvSpPr>
          <p:cNvPr id="160" name="Text 158"/>
          <p:cNvSpPr/>
          <p:nvPr/>
        </p:nvSpPr>
        <p:spPr>
          <a:xfrm>
            <a:off x="9025128" y="3338589"/>
            <a:ext cx="109728" cy="198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A26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開</a:t>
            </a:r>
            <a:endParaRPr lang="en-US" sz="650" dirty="0"/>
          </a:p>
        </p:txBody>
      </p:sp>
      <p:sp>
        <p:nvSpPr>
          <p:cNvPr id="161" name="Text 159"/>
          <p:cNvSpPr/>
          <p:nvPr/>
        </p:nvSpPr>
        <p:spPr>
          <a:xfrm>
            <a:off x="9025128" y="3537182"/>
            <a:ext cx="109728" cy="198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A26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発</a:t>
            </a:r>
            <a:endParaRPr lang="en-US" sz="650" dirty="0"/>
          </a:p>
        </p:txBody>
      </p:sp>
      <p:sp>
        <p:nvSpPr>
          <p:cNvPr id="162" name="Text 160"/>
          <p:cNvSpPr/>
          <p:nvPr/>
        </p:nvSpPr>
        <p:spPr>
          <a:xfrm>
            <a:off x="9025128" y="3735774"/>
            <a:ext cx="109728" cy="198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A26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力</a:t>
            </a:r>
            <a:endParaRPr lang="en-US" sz="650" dirty="0"/>
          </a:p>
        </p:txBody>
      </p:sp>
      <p:sp>
        <p:nvSpPr>
          <p:cNvPr id="163" name="Shape 161"/>
          <p:cNvSpPr/>
          <p:nvPr/>
        </p:nvSpPr>
        <p:spPr>
          <a:xfrm>
            <a:off x="9025128" y="3989230"/>
            <a:ext cx="109728" cy="632353"/>
          </a:xfrm>
          <a:prstGeom prst="rect">
            <a:avLst/>
          </a:prstGeom>
          <a:solidFill>
            <a:srgbClr val="1A2648">
              <a:alpha val="15000"/>
            </a:srgbClr>
          </a:solidFill>
          <a:ln w="6350">
            <a:solidFill>
              <a:srgbClr val="CACDD8"/>
            </a:solidFill>
            <a:prstDash val="solid"/>
          </a:ln>
        </p:spPr>
      </p:sp>
      <p:sp>
        <p:nvSpPr>
          <p:cNvPr id="164" name="Text 162"/>
          <p:cNvSpPr/>
          <p:nvPr/>
        </p:nvSpPr>
        <p:spPr>
          <a:xfrm>
            <a:off x="9025128" y="3989230"/>
            <a:ext cx="109728" cy="198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A26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</a:t>
            </a:r>
            <a:endParaRPr lang="en-US" sz="650" dirty="0"/>
          </a:p>
        </p:txBody>
      </p:sp>
      <p:sp>
        <p:nvSpPr>
          <p:cNvPr id="165" name="Text 163"/>
          <p:cNvSpPr/>
          <p:nvPr/>
        </p:nvSpPr>
        <p:spPr>
          <a:xfrm>
            <a:off x="9025128" y="4187823"/>
            <a:ext cx="109728" cy="198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A26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用</a:t>
            </a:r>
            <a:endParaRPr lang="en-US" sz="650" dirty="0"/>
          </a:p>
        </p:txBody>
      </p:sp>
      <p:sp>
        <p:nvSpPr>
          <p:cNvPr id="166" name="Text 164"/>
          <p:cNvSpPr/>
          <p:nvPr/>
        </p:nvSpPr>
        <p:spPr>
          <a:xfrm>
            <a:off x="9025128" y="4386415"/>
            <a:ext cx="109728" cy="198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A26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力</a:t>
            </a:r>
            <a:endParaRPr lang="en-US" sz="650" dirty="0"/>
          </a:p>
        </p:txBody>
      </p:sp>
      <p:sp>
        <p:nvSpPr>
          <p:cNvPr id="167" name="Shape 165"/>
          <p:cNvSpPr/>
          <p:nvPr/>
        </p:nvSpPr>
        <p:spPr>
          <a:xfrm>
            <a:off x="9025128" y="4639871"/>
            <a:ext cx="109728" cy="307033"/>
          </a:xfrm>
          <a:prstGeom prst="rect">
            <a:avLst/>
          </a:prstGeom>
          <a:solidFill>
            <a:srgbClr val="1A2648">
              <a:alpha val="15000"/>
            </a:srgbClr>
          </a:solidFill>
          <a:ln w="6350">
            <a:solidFill>
              <a:srgbClr val="CACDD8"/>
            </a:solidFill>
            <a:prstDash val="solid"/>
          </a:ln>
        </p:spPr>
      </p:sp>
      <p:sp>
        <p:nvSpPr>
          <p:cNvPr id="168" name="Text 166"/>
          <p:cNvSpPr/>
          <p:nvPr/>
        </p:nvSpPr>
        <p:spPr>
          <a:xfrm>
            <a:off x="9025128" y="4639871"/>
            <a:ext cx="109728" cy="90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A26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</a:t>
            </a:r>
            <a:endParaRPr lang="en-US" sz="650" dirty="0"/>
          </a:p>
        </p:txBody>
      </p:sp>
      <p:sp>
        <p:nvSpPr>
          <p:cNvPr id="169" name="Text 167"/>
          <p:cNvSpPr/>
          <p:nvPr/>
        </p:nvSpPr>
        <p:spPr>
          <a:xfrm>
            <a:off x="9025128" y="4730024"/>
            <a:ext cx="109728" cy="90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A26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営</a:t>
            </a:r>
            <a:endParaRPr lang="en-US" sz="650" dirty="0"/>
          </a:p>
        </p:txBody>
      </p:sp>
      <p:sp>
        <p:nvSpPr>
          <p:cNvPr id="170" name="Text 168"/>
          <p:cNvSpPr/>
          <p:nvPr/>
        </p:nvSpPr>
        <p:spPr>
          <a:xfrm>
            <a:off x="9025128" y="4820176"/>
            <a:ext cx="109728" cy="90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A26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力</a:t>
            </a:r>
            <a:endParaRPr lang="en-US" sz="650" dirty="0"/>
          </a:p>
        </p:txBody>
      </p:sp>
      <p:sp>
        <p:nvSpPr>
          <p:cNvPr id="171" name="Shape 169"/>
          <p:cNvSpPr/>
          <p:nvPr/>
        </p:nvSpPr>
        <p:spPr>
          <a:xfrm>
            <a:off x="4572" y="3091701"/>
            <a:ext cx="9134856" cy="1873491"/>
          </a:xfrm>
          <a:prstGeom prst="rect">
            <a:avLst/>
          </a:prstGeom>
          <a:solidFill>
            <a:srgbClr val="FFFFFF">
              <a:alpha val="0"/>
            </a:srgbClr>
          </a:solidFill>
          <a:ln w="7620">
            <a:solidFill>
              <a:srgbClr val="1A2648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109728" y="5010912"/>
            <a:ext cx="164592" cy="128016"/>
          </a:xfrm>
          <a:prstGeom prst="rect">
            <a:avLst/>
          </a:prstGeom>
          <a:solidFill>
            <a:srgbClr val="FFF0F2"/>
          </a:solidFill>
          <a:ln w="10160">
            <a:solidFill>
              <a:srgbClr val="C8102E"/>
            </a:solidFill>
            <a:prstDash val="solid"/>
          </a:ln>
        </p:spPr>
      </p:sp>
      <p:sp>
        <p:nvSpPr>
          <p:cNvPr id="173" name="Text 171"/>
          <p:cNvSpPr/>
          <p:nvPr/>
        </p:nvSpPr>
        <p:spPr>
          <a:xfrm>
            <a:off x="109728" y="5010912"/>
            <a:ext cx="16459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810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●</a:t>
            </a:r>
            <a:endParaRPr lang="en-US" sz="800" dirty="0"/>
          </a:p>
        </p:txBody>
      </p:sp>
      <p:sp>
        <p:nvSpPr>
          <p:cNvPr id="174" name="Text 172"/>
          <p:cNvSpPr/>
          <p:nvPr/>
        </p:nvSpPr>
        <p:spPr>
          <a:xfrm>
            <a:off x="310896" y="5010912"/>
            <a:ext cx="115214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4A4A5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当該フェーズで獲得予定</a:t>
            </a:r>
            <a:endParaRPr lang="en-US" sz="700" dirty="0"/>
          </a:p>
        </p:txBody>
      </p:sp>
      <p:sp>
        <p:nvSpPr>
          <p:cNvPr id="175" name="Shape 173"/>
          <p:cNvSpPr/>
          <p:nvPr/>
        </p:nvSpPr>
        <p:spPr>
          <a:xfrm>
            <a:off x="1499616" y="5010912"/>
            <a:ext cx="164592" cy="128016"/>
          </a:xfrm>
          <a:prstGeom prst="rect">
            <a:avLst/>
          </a:prstGeom>
          <a:solidFill>
            <a:srgbClr val="F0F7F3"/>
          </a:solidFill>
          <a:ln w="10160">
            <a:solidFill>
              <a:srgbClr val="2A7A50"/>
            </a:solidFill>
            <a:prstDash val="solid"/>
          </a:ln>
        </p:spPr>
      </p:sp>
      <p:sp>
        <p:nvSpPr>
          <p:cNvPr id="176" name="Text 174"/>
          <p:cNvSpPr/>
          <p:nvPr/>
        </p:nvSpPr>
        <p:spPr>
          <a:xfrm>
            <a:off x="1499616" y="5010912"/>
            <a:ext cx="16459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A7A5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</a:t>
            </a:r>
            <a:endParaRPr lang="en-US" sz="800" dirty="0"/>
          </a:p>
        </p:txBody>
      </p:sp>
      <p:sp>
        <p:nvSpPr>
          <p:cNvPr id="177" name="Text 175"/>
          <p:cNvSpPr/>
          <p:nvPr/>
        </p:nvSpPr>
        <p:spPr>
          <a:xfrm>
            <a:off x="1700784" y="5010912"/>
            <a:ext cx="115214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4A4A5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獲得済</a:t>
            </a:r>
            <a:endParaRPr lang="en-US" sz="700" dirty="0"/>
          </a:p>
        </p:txBody>
      </p:sp>
      <p:sp>
        <p:nvSpPr>
          <p:cNvPr id="178" name="Shape 176"/>
          <p:cNvSpPr/>
          <p:nvPr/>
        </p:nvSpPr>
        <p:spPr>
          <a:xfrm>
            <a:off x="2889504" y="5010912"/>
            <a:ext cx="164592" cy="128016"/>
          </a:xfrm>
          <a:prstGeom prst="rect">
            <a:avLst/>
          </a:prstGeom>
          <a:solidFill>
            <a:srgbClr val="F2F4F7"/>
          </a:solidFill>
          <a:ln w="10160">
            <a:solidFill>
              <a:srgbClr val="8A8A9A"/>
            </a:solidFill>
            <a:prstDash val="solid"/>
          </a:ln>
        </p:spPr>
      </p:sp>
      <p:sp>
        <p:nvSpPr>
          <p:cNvPr id="179" name="Text 177"/>
          <p:cNvSpPr/>
          <p:nvPr/>
        </p:nvSpPr>
        <p:spPr>
          <a:xfrm>
            <a:off x="2889504" y="5010912"/>
            <a:ext cx="16459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8A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―</a:t>
            </a:r>
            <a:endParaRPr lang="en-US" sz="800" dirty="0"/>
          </a:p>
        </p:txBody>
      </p:sp>
      <p:sp>
        <p:nvSpPr>
          <p:cNvPr id="180" name="Text 178"/>
          <p:cNvSpPr/>
          <p:nvPr/>
        </p:nvSpPr>
        <p:spPr>
          <a:xfrm>
            <a:off x="3090672" y="5010912"/>
            <a:ext cx="115214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4A4A5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未獲得</a:t>
            </a:r>
            <a:endParaRPr lang="en-US" sz="700" dirty="0"/>
          </a:p>
        </p:txBody>
      </p:sp>
      <p:sp>
        <p:nvSpPr>
          <p:cNvPr id="181" name="Shape 179"/>
          <p:cNvSpPr/>
          <p:nvPr/>
        </p:nvSpPr>
        <p:spPr>
          <a:xfrm>
            <a:off x="0" y="5029200"/>
            <a:ext cx="9144000" cy="8229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0" y="5029200"/>
            <a:ext cx="9144000" cy="20117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83" name="Text 181"/>
          <p:cNvSpPr/>
          <p:nvPr/>
        </p:nvSpPr>
        <p:spPr>
          <a:xfrm>
            <a:off x="201168" y="5047488"/>
            <a:ext cx="8778240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A26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各フェーズで機能を段階的に積み上げ、開発力・運用力・運営力の三軸確立により、持続的な都市開発事業の実現を目指す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02920"/>
            <a:ext cx="9144000" cy="464058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B2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45720"/>
            <a:ext cx="685800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游ゴシック"/>
              </a:rPr>
              <a:t>エグゼクティブサマリ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0" y="45720"/>
            <a:ext cx="219456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800" b="0">
                <a:solidFill>
                  <a:srgbClr val="FFFFFF"/>
                </a:solidFill>
                <a:latin typeface="游ゴシック"/>
              </a:rPr>
              <a:t>事業戦略（将来に関する記述を含みます）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548640"/>
            <a:ext cx="8595360" cy="3200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>
                <a:solidFill>
                  <a:srgbClr val="666A73"/>
                </a:solidFill>
                <a:latin typeface="游ゴシック"/>
              </a:rPr>
              <a:t>都市開発事業の確立に向けた 目的・手段・課題</a:t>
            </a:r>
          </a:p>
        </p:txBody>
      </p:sp>
      <p:sp>
        <p:nvSpPr>
          <p:cNvPr id="7" name="Rectangle 6"/>
          <p:cNvSpPr/>
          <p:nvPr/>
        </p:nvSpPr>
        <p:spPr>
          <a:xfrm>
            <a:off x="228600" y="960120"/>
            <a:ext cx="2743200" cy="502920"/>
          </a:xfrm>
          <a:prstGeom prst="rect">
            <a:avLst/>
          </a:prstGeom>
          <a:solidFill>
            <a:srgbClr val="0B2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960120"/>
            <a:ext cx="2560320" cy="5029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游ゴシック"/>
              </a:rPr>
              <a:t>目的 (Purpose)</a:t>
            </a:r>
          </a:p>
        </p:txBody>
      </p:sp>
      <p:sp>
        <p:nvSpPr>
          <p:cNvPr id="9" name="Rectangle 8"/>
          <p:cNvSpPr/>
          <p:nvPr/>
        </p:nvSpPr>
        <p:spPr>
          <a:xfrm>
            <a:off x="228600" y="1463040"/>
            <a:ext cx="2743200" cy="352044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554480"/>
            <a:ext cx="2468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>
                <a:solidFill>
                  <a:srgbClr val="0B2E5B"/>
                </a:solidFill>
                <a:latin typeface="游ゴシック"/>
              </a:rPr>
              <a:t>何を実現するか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828800"/>
            <a:ext cx="246888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333333"/>
                </a:solidFill>
                <a:latin typeface="游ゴシック"/>
              </a:rPr>
              <a:t>■ 中核収益基盤の確立</a:t>
            </a:r>
          </a:p>
          <a:p>
            <a:pPr lvl="1">
              <a:spcBef>
                <a:spcPts val="100"/>
              </a:spcBef>
            </a:pPr>
            <a:r>
              <a:rPr sz="900">
                <a:solidFill>
                  <a:srgbClr val="666A73"/>
                </a:solidFill>
                <a:latin typeface="游ゴシック"/>
              </a:rPr>
              <a:t>  都市開発事業を三菱商事グループの中核収益基盤の一つへ</a:t>
            </a:r>
          </a:p>
          <a:p>
            <a:pPr algn="l">
              <a:spcBef>
                <a:spcPts val="600"/>
              </a:spcBef>
            </a:pPr>
            <a:r>
              <a:rPr sz="1000" b="1">
                <a:solidFill>
                  <a:srgbClr val="333333"/>
                </a:solidFill>
                <a:latin typeface="游ゴシック"/>
              </a:rPr>
              <a:t>■ 規模ある付加価値型開発</a:t>
            </a:r>
          </a:p>
          <a:p>
            <a:pPr lvl="1">
              <a:spcBef>
                <a:spcPts val="100"/>
              </a:spcBef>
            </a:pPr>
            <a:r>
              <a:rPr sz="900">
                <a:solidFill>
                  <a:srgbClr val="666A73"/>
                </a:solidFill>
                <a:latin typeface="游ゴシック"/>
              </a:rPr>
              <a:t>  多様なアセットクラスにわたる、付加価値の高い都市開発事業の展開</a:t>
            </a:r>
          </a:p>
          <a:p>
            <a:pPr algn="l">
              <a:spcBef>
                <a:spcPts val="600"/>
              </a:spcBef>
            </a:pPr>
            <a:r>
              <a:rPr sz="1000" b="1">
                <a:solidFill>
                  <a:srgbClr val="333333"/>
                </a:solidFill>
                <a:latin typeface="游ゴシック"/>
              </a:rPr>
              <a:t>■ 持続的な企業価値向上</a:t>
            </a:r>
          </a:p>
          <a:p>
            <a:pPr lvl="1">
              <a:spcBef>
                <a:spcPts val="100"/>
              </a:spcBef>
            </a:pPr>
            <a:r>
              <a:rPr sz="900">
                <a:solidFill>
                  <a:srgbClr val="666A73"/>
                </a:solidFill>
                <a:latin typeface="游ゴシック"/>
              </a:rPr>
              <a:t>  開発・運用・運営の三軸による持続的なキャッシュ・フロー創出と ROE 向上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0" y="960120"/>
            <a:ext cx="2743200" cy="502920"/>
          </a:xfrm>
          <a:prstGeom prst="rect">
            <a:avLst/>
          </a:prstGeom>
          <a:solidFill>
            <a:srgbClr val="007A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91840" y="960120"/>
            <a:ext cx="2560320" cy="5029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游ゴシック"/>
              </a:rPr>
              <a:t>手段 (Means)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0" y="1463040"/>
            <a:ext cx="2743200" cy="352044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554480"/>
            <a:ext cx="2468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>
                <a:solidFill>
                  <a:srgbClr val="007A87"/>
                </a:solidFill>
                <a:latin typeface="游ゴシック"/>
              </a:rPr>
              <a:t>どう実現するか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828800"/>
            <a:ext cx="246888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333333"/>
                </a:solidFill>
                <a:latin typeface="游ゴシック"/>
              </a:rPr>
              <a:t>■ 三軸の機能強化</a:t>
            </a:r>
          </a:p>
          <a:p>
            <a:pPr lvl="1">
              <a:spcBef>
                <a:spcPts val="100"/>
              </a:spcBef>
            </a:pPr>
            <a:r>
              <a:rPr sz="900">
                <a:solidFill>
                  <a:srgbClr val="666A73"/>
                </a:solidFill>
                <a:latin typeface="游ゴシック"/>
              </a:rPr>
              <a:t>  開発力・運用力・運営力の10機能を段階的に獲得</a:t>
            </a:r>
          </a:p>
          <a:p>
            <a:pPr algn="l">
              <a:spcBef>
                <a:spcPts val="600"/>
              </a:spcBef>
            </a:pPr>
            <a:r>
              <a:rPr sz="1000" b="1">
                <a:solidFill>
                  <a:srgbClr val="333333"/>
                </a:solidFill>
                <a:latin typeface="游ゴシック"/>
              </a:rPr>
              <a:t>■ 段階的な戦略投資</a:t>
            </a:r>
          </a:p>
          <a:p>
            <a:pPr lvl="1">
              <a:spcBef>
                <a:spcPts val="100"/>
              </a:spcBef>
            </a:pPr>
            <a:r>
              <a:rPr sz="900">
                <a:solidFill>
                  <a:srgbClr val="666A73"/>
                </a:solidFill>
                <a:latin typeface="游ゴシック"/>
              </a:rPr>
              <a:t>  戦略投資フェーズⅠ（基盤構築）→ Ⅱ（事業拡大）の2段階で投下</a:t>
            </a:r>
          </a:p>
          <a:p>
            <a:pPr algn="l">
              <a:spcBef>
                <a:spcPts val="600"/>
              </a:spcBef>
            </a:pPr>
            <a:r>
              <a:rPr sz="1000" b="1">
                <a:solidFill>
                  <a:srgbClr val="333333"/>
                </a:solidFill>
                <a:latin typeface="游ゴシック"/>
              </a:rPr>
              <a:t>■ 開発×運用の好循環モデル</a:t>
            </a:r>
          </a:p>
          <a:p>
            <a:pPr lvl="1">
              <a:spcBef>
                <a:spcPts val="100"/>
              </a:spcBef>
            </a:pPr>
            <a:r>
              <a:rPr sz="900">
                <a:solidFill>
                  <a:srgbClr val="666A73"/>
                </a:solidFill>
                <a:latin typeface="游ゴシック"/>
              </a:rPr>
              <a:t>  開発案件を運用プラットフォームへ組入れ、運用収益を次の開発に再投下</a:t>
            </a:r>
          </a:p>
          <a:p>
            <a:pPr algn="l">
              <a:spcBef>
                <a:spcPts val="600"/>
              </a:spcBef>
            </a:pPr>
            <a:r>
              <a:rPr sz="1000" b="1">
                <a:solidFill>
                  <a:srgbClr val="333333"/>
                </a:solidFill>
                <a:latin typeface="游ゴシック"/>
              </a:rPr>
              <a:t>■ 投資規律とリスク管理</a:t>
            </a:r>
          </a:p>
          <a:p>
            <a:pPr lvl="1">
              <a:spcBef>
                <a:spcPts val="100"/>
              </a:spcBef>
            </a:pPr>
            <a:r>
              <a:rPr sz="900">
                <a:solidFill>
                  <a:srgbClr val="666A73"/>
                </a:solidFill>
                <a:latin typeface="游ゴシック"/>
              </a:rPr>
              <a:t>  規模と資本効率を両立させる投資判断力の体系化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72200" y="960120"/>
            <a:ext cx="2743200" cy="502920"/>
          </a:xfrm>
          <a:prstGeom prst="rect">
            <a:avLst/>
          </a:prstGeom>
          <a:solidFill>
            <a:srgbClr val="B76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63640" y="960120"/>
            <a:ext cx="2560320" cy="5029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游ゴシック"/>
              </a:rPr>
              <a:t>課題 (Issues)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72200" y="1463040"/>
            <a:ext cx="2743200" cy="352044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1554480"/>
            <a:ext cx="2468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>
                <a:solidFill>
                  <a:srgbClr val="B76E00"/>
                </a:solidFill>
                <a:latin typeface="游ゴシック"/>
              </a:rPr>
              <a:t>何がボトルネックか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1828800"/>
            <a:ext cx="246888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333333"/>
                </a:solidFill>
                <a:latin typeface="游ゴシック"/>
              </a:rPr>
              <a:t>■ バリューアップ型開発機能の未確立</a:t>
            </a:r>
          </a:p>
          <a:p>
            <a:pPr lvl="1">
              <a:spcBef>
                <a:spcPts val="100"/>
              </a:spcBef>
            </a:pPr>
            <a:r>
              <a:rPr sz="900">
                <a:solidFill>
                  <a:srgbClr val="666A73"/>
                </a:solidFill>
                <a:latin typeface="游ゴシック"/>
              </a:rPr>
              <a:t>  現状は幅広いアセットライン対応のみ。付加価値創出の設計力が不足</a:t>
            </a:r>
          </a:p>
          <a:p>
            <a:pPr algn="l">
              <a:spcBef>
                <a:spcPts val="600"/>
              </a:spcBef>
            </a:pPr>
            <a:r>
              <a:rPr sz="1000" b="1">
                <a:solidFill>
                  <a:srgbClr val="333333"/>
                </a:solidFill>
                <a:latin typeface="游ゴシック"/>
              </a:rPr>
              <a:t>■ 開発〜Exit収益サイクル未確立</a:t>
            </a:r>
          </a:p>
          <a:p>
            <a:pPr lvl="1">
              <a:spcBef>
                <a:spcPts val="100"/>
              </a:spcBef>
            </a:pPr>
            <a:r>
              <a:rPr sz="900">
                <a:solidFill>
                  <a:srgbClr val="666A73"/>
                </a:solidFill>
                <a:latin typeface="游ゴシック"/>
              </a:rPr>
              <a:t>  開発資産をExitし収益計上する出口戦略が未整備</a:t>
            </a:r>
          </a:p>
          <a:p>
            <a:pPr algn="l">
              <a:spcBef>
                <a:spcPts val="600"/>
              </a:spcBef>
            </a:pPr>
            <a:r>
              <a:rPr sz="1000" b="1">
                <a:solidFill>
                  <a:srgbClr val="333333"/>
                </a:solidFill>
                <a:latin typeface="游ゴシック"/>
              </a:rPr>
              <a:t>■ AUM拡大・投資判断力の体系化未着手</a:t>
            </a:r>
          </a:p>
          <a:p>
            <a:pPr lvl="1">
              <a:spcBef>
                <a:spcPts val="100"/>
              </a:spcBef>
            </a:pPr>
            <a:r>
              <a:rPr sz="900">
                <a:solidFill>
                  <a:srgbClr val="666A73"/>
                </a:solidFill>
                <a:latin typeface="游ゴシック"/>
              </a:rPr>
              <a:t>  ファンド組成・投資家基盤と連動した投資目利き・アンダーライティングの仕組み化</a:t>
            </a:r>
          </a:p>
          <a:p>
            <a:pPr algn="l">
              <a:spcBef>
                <a:spcPts val="600"/>
              </a:spcBef>
            </a:pPr>
            <a:r>
              <a:rPr sz="1000" b="1">
                <a:solidFill>
                  <a:srgbClr val="333333"/>
                </a:solidFill>
                <a:latin typeface="游ゴシック"/>
              </a:rPr>
              <a:t>■ 都市運営プラットフォームの不在</a:t>
            </a:r>
          </a:p>
          <a:p>
            <a:pPr lvl="1">
              <a:spcBef>
                <a:spcPts val="100"/>
              </a:spcBef>
            </a:pPr>
            <a:r>
              <a:rPr sz="900">
                <a:solidFill>
                  <a:srgbClr val="666A73"/>
                </a:solidFill>
                <a:latin typeface="游ゴシック"/>
              </a:rPr>
              <a:t>  NOI拡大・バリューアップを継続的に回す運営主体が未確立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" y="4846320"/>
            <a:ext cx="859536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800" b="0">
                <a:solidFill>
                  <a:srgbClr val="666A73"/>
                </a:solidFill>
                <a:latin typeface="游ゴシック"/>
              </a:rPr>
              <a:t>※ 本ページの記述には将来見通しに関する情報を含み、実際の結果と異なる可能性があります。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02920"/>
            <a:ext cx="9144000" cy="464058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B2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45720"/>
            <a:ext cx="685800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游ゴシック"/>
              </a:rPr>
              <a:t>機能獲得の段階的積み上げ（ロードマップ概観）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0" y="45720"/>
            <a:ext cx="219456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800" b="0">
                <a:solidFill>
                  <a:srgbClr val="FFFFFF"/>
                </a:solidFill>
                <a:latin typeface="游ゴシック"/>
              </a:rPr>
              <a:t>事業戦略（将来に関する記述を含みます）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548640"/>
            <a:ext cx="8595360" cy="3200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>
                <a:solidFill>
                  <a:srgbClr val="666A73"/>
                </a:solidFill>
                <a:latin typeface="游ゴシック"/>
              </a:rPr>
              <a:t>現在 ⇒ 戦略投資フェーズⅠ ⇒ Ⅱ ⇒ 都市開発事業の確立 ― 階段状に機能を獲得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868680"/>
            <a:ext cx="260604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905256"/>
            <a:ext cx="2423160" cy="1828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800" b="1">
                <a:solidFill>
                  <a:srgbClr val="333333"/>
                </a:solidFill>
                <a:latin typeface="游ゴシック"/>
              </a:rPr>
              <a:t>凡例（機能の三軸）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1115568"/>
            <a:ext cx="777240" cy="201168"/>
          </a:xfrm>
          <a:prstGeom prst="rect">
            <a:avLst/>
          </a:prstGeom>
          <a:solidFill>
            <a:srgbClr val="0B2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115568"/>
            <a:ext cx="777240" cy="20116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游ゴシック"/>
              </a:rPr>
              <a:t>D 開発力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287768" y="1115568"/>
            <a:ext cx="777240" cy="201168"/>
          </a:xfrm>
          <a:prstGeom prst="rect">
            <a:avLst/>
          </a:prstGeom>
          <a:solidFill>
            <a:srgbClr val="1F4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87768" y="1115568"/>
            <a:ext cx="777240" cy="20116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游ゴシック"/>
              </a:rPr>
              <a:t>A 運用力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83296" y="1115568"/>
            <a:ext cx="777240" cy="201168"/>
          </a:xfrm>
          <a:prstGeom prst="rect">
            <a:avLst/>
          </a:prstGeom>
          <a:solidFill>
            <a:srgbClr val="007A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83296" y="1115568"/>
            <a:ext cx="777240" cy="20116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游ゴシック"/>
              </a:rPr>
              <a:t>O 運営力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82880" y="3840480"/>
            <a:ext cx="2057400" cy="822959"/>
          </a:xfrm>
          <a:prstGeom prst="rect">
            <a:avLst/>
          </a:prstGeom>
          <a:solidFill>
            <a:srgbClr val="666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56032" y="3895344"/>
            <a:ext cx="1911095" cy="256032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游ゴシック"/>
              </a:rPr>
              <a:t>① 現在 (As is)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3895344"/>
            <a:ext cx="868680" cy="256032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/>
            <a:r>
              <a:rPr sz="900" b="1">
                <a:solidFill>
                  <a:srgbClr val="FFFFFF"/>
                </a:solidFill>
                <a:latin typeface="游ゴシック"/>
              </a:rPr>
              <a:t>累計 0/10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6032" y="4389120"/>
            <a:ext cx="1911095" cy="2286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游ゴシック"/>
              </a:rPr>
              <a:t>出発点：既獲得の機能のみ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295144" y="3017520"/>
            <a:ext cx="2057400" cy="1645919"/>
          </a:xfrm>
          <a:prstGeom prst="rect">
            <a:avLst/>
          </a:prstGeom>
          <a:solidFill>
            <a:srgbClr val="1F4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368296" y="3072384"/>
            <a:ext cx="1911095" cy="256032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游ゴシック"/>
              </a:rPr>
              <a:t>② 戦略投資フェーズⅠ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92424" y="3072384"/>
            <a:ext cx="868680" cy="256032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/>
            <a:r>
              <a:rPr sz="900" b="1">
                <a:solidFill>
                  <a:srgbClr val="FFFFFF"/>
                </a:solidFill>
                <a:latin typeface="游ゴシック"/>
              </a:rPr>
              <a:t>累計 5/10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68296" y="3401568"/>
            <a:ext cx="1911095" cy="9692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800" b="1">
                <a:solidFill>
                  <a:srgbClr val="FFFFFF"/>
                </a:solidFill>
                <a:latin typeface="游ゴシック"/>
              </a:rPr>
              <a:t>[D] </a:t>
            </a:r>
            <a:r>
              <a:rPr sz="900">
                <a:solidFill>
                  <a:srgbClr val="FFFFFF"/>
                </a:solidFill>
                <a:latin typeface="游ゴシック"/>
              </a:rPr>
              <a:t>多様なアセットクラスへの対応力</a:t>
            </a:r>
          </a:p>
          <a:p>
            <a:pPr>
              <a:spcBef>
                <a:spcPts val="200"/>
              </a:spcBef>
            </a:pPr>
            <a:r>
              <a:rPr sz="800" b="1">
                <a:solidFill>
                  <a:srgbClr val="FFFFFF"/>
                </a:solidFill>
                <a:latin typeface="游ゴシック"/>
              </a:rPr>
              <a:t>[D] </a:t>
            </a:r>
            <a:r>
              <a:rPr sz="900">
                <a:solidFill>
                  <a:srgbClr val="FFFFFF"/>
                </a:solidFill>
                <a:latin typeface="游ゴシック"/>
              </a:rPr>
              <a:t>産業・商業複合型 企画・ソーシング力</a:t>
            </a:r>
          </a:p>
          <a:p>
            <a:pPr>
              <a:spcBef>
                <a:spcPts val="200"/>
              </a:spcBef>
            </a:pPr>
            <a:r>
              <a:rPr sz="800" b="1">
                <a:solidFill>
                  <a:srgbClr val="FFFFFF"/>
                </a:solidFill>
                <a:latin typeface="游ゴシック"/>
              </a:rPr>
              <a:t>[A] </a:t>
            </a:r>
            <a:r>
              <a:rPr sz="900">
                <a:solidFill>
                  <a:srgbClr val="FFFFFF"/>
                </a:solidFill>
                <a:latin typeface="游ゴシック"/>
              </a:rPr>
              <a:t>投資家基盤の拡充・パイプライン構築</a:t>
            </a:r>
          </a:p>
          <a:p>
            <a:pPr>
              <a:spcBef>
                <a:spcPts val="200"/>
              </a:spcBef>
            </a:pPr>
            <a:r>
              <a:rPr sz="800" b="1">
                <a:solidFill>
                  <a:srgbClr val="FFFFFF"/>
                </a:solidFill>
                <a:latin typeface="游ゴシック"/>
              </a:rPr>
              <a:t>[A] </a:t>
            </a:r>
            <a:r>
              <a:rPr sz="900">
                <a:solidFill>
                  <a:srgbClr val="FFFFFF"/>
                </a:solidFill>
                <a:latin typeface="游ゴシック"/>
              </a:rPr>
              <a:t>ファンド組成・AM体制構築</a:t>
            </a:r>
          </a:p>
          <a:p>
            <a:pPr>
              <a:spcBef>
                <a:spcPts val="200"/>
              </a:spcBef>
            </a:pPr>
            <a:r>
              <a:rPr sz="800" b="1">
                <a:solidFill>
                  <a:srgbClr val="FFFFFF"/>
                </a:solidFill>
                <a:latin typeface="游ゴシック"/>
              </a:rPr>
              <a:t>[O] </a:t>
            </a:r>
            <a:r>
              <a:rPr sz="900">
                <a:solidFill>
                  <a:srgbClr val="FFFFFF"/>
                </a:solidFill>
                <a:latin typeface="游ゴシック"/>
              </a:rPr>
              <a:t>NOI拡大・バリューアップ機能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68296" y="4389120"/>
            <a:ext cx="1911095" cy="2286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游ゴシック"/>
              </a:rPr>
              <a:t>+ 5機能（基盤構築）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07408" y="2194560"/>
            <a:ext cx="2057400" cy="2468879"/>
          </a:xfrm>
          <a:prstGeom prst="rect">
            <a:avLst/>
          </a:prstGeom>
          <a:solidFill>
            <a:srgbClr val="007A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80560" y="2249424"/>
            <a:ext cx="1911095" cy="256032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游ゴシック"/>
              </a:rPr>
              <a:t>③ 戦略投資フェーズⅡ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504688" y="2249424"/>
            <a:ext cx="868680" cy="256032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/>
            <a:r>
              <a:rPr sz="900" b="1">
                <a:solidFill>
                  <a:srgbClr val="FFFFFF"/>
                </a:solidFill>
                <a:latin typeface="游ゴシック"/>
              </a:rPr>
              <a:t>累計 9/10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0560" y="2578608"/>
            <a:ext cx="1911095" cy="17922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800" b="1">
                <a:solidFill>
                  <a:srgbClr val="FFFFFF"/>
                </a:solidFill>
                <a:latin typeface="游ゴシック"/>
              </a:rPr>
              <a:t>[D] </a:t>
            </a:r>
            <a:r>
              <a:rPr sz="900">
                <a:solidFill>
                  <a:srgbClr val="FFFFFF"/>
                </a:solidFill>
                <a:latin typeface="游ゴシック"/>
              </a:rPr>
              <a:t>バリューアップ型開発機能</a:t>
            </a:r>
          </a:p>
          <a:p>
            <a:pPr>
              <a:spcBef>
                <a:spcPts val="200"/>
              </a:spcBef>
            </a:pPr>
            <a:r>
              <a:rPr sz="800" b="1">
                <a:solidFill>
                  <a:srgbClr val="FFFFFF"/>
                </a:solidFill>
                <a:latin typeface="游ゴシック"/>
              </a:rPr>
              <a:t>[D] </a:t>
            </a:r>
            <a:r>
              <a:rPr sz="900">
                <a:solidFill>
                  <a:srgbClr val="FFFFFF"/>
                </a:solidFill>
                <a:latin typeface="游ゴシック"/>
              </a:rPr>
              <a:t>開発〜Exit の収益サイクル確立</a:t>
            </a:r>
          </a:p>
          <a:p>
            <a:pPr>
              <a:spcBef>
                <a:spcPts val="200"/>
              </a:spcBef>
            </a:pPr>
            <a:r>
              <a:rPr sz="800" b="1">
                <a:solidFill>
                  <a:srgbClr val="FFFFFF"/>
                </a:solidFill>
                <a:latin typeface="游ゴシック"/>
              </a:rPr>
              <a:t>[A] </a:t>
            </a:r>
            <a:r>
              <a:rPr sz="900">
                <a:solidFill>
                  <a:srgbClr val="FFFFFF"/>
                </a:solidFill>
                <a:latin typeface="游ゴシック"/>
              </a:rPr>
              <a:t>AUM拡大・投資判断力の体系化</a:t>
            </a:r>
          </a:p>
          <a:p>
            <a:pPr>
              <a:spcBef>
                <a:spcPts val="200"/>
              </a:spcBef>
            </a:pPr>
            <a:r>
              <a:rPr sz="800" b="1">
                <a:solidFill>
                  <a:srgbClr val="FFFFFF"/>
                </a:solidFill>
                <a:latin typeface="游ゴシック"/>
              </a:rPr>
              <a:t>[O] </a:t>
            </a:r>
            <a:r>
              <a:rPr sz="900">
                <a:solidFill>
                  <a:srgbClr val="FFFFFF"/>
                </a:solidFill>
                <a:latin typeface="游ゴシック"/>
              </a:rPr>
              <a:t>関連事業の再編・都市運営PF確立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4389120"/>
            <a:ext cx="1911095" cy="2286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游ゴシック"/>
              </a:rPr>
              <a:t>+ 4機能（事業拡大）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19672" y="1371600"/>
            <a:ext cx="2057400" cy="3291839"/>
          </a:xfrm>
          <a:prstGeom prst="rect">
            <a:avLst/>
          </a:prstGeom>
          <a:solidFill>
            <a:srgbClr val="0B2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92824" y="1426464"/>
            <a:ext cx="1911095" cy="256032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游ゴシック"/>
              </a:rPr>
              <a:t>④ 都市開発事業の確立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16951" y="1426464"/>
            <a:ext cx="868680" cy="256032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/>
            <a:r>
              <a:rPr sz="900" b="1">
                <a:solidFill>
                  <a:srgbClr val="FFFFFF"/>
                </a:solidFill>
                <a:latin typeface="游ゴシック"/>
              </a:rPr>
              <a:t>累計 10/10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92824" y="1755648"/>
            <a:ext cx="1911095" cy="26151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800" b="1">
                <a:solidFill>
                  <a:srgbClr val="FFFFFF"/>
                </a:solidFill>
                <a:latin typeface="游ゴシック"/>
              </a:rPr>
              <a:t>[A] </a:t>
            </a:r>
            <a:r>
              <a:rPr sz="900">
                <a:solidFill>
                  <a:srgbClr val="FFFFFF"/>
                </a:solidFill>
                <a:latin typeface="游ゴシック"/>
              </a:rPr>
              <a:t>高付加価値事業の収益化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92824" y="4389120"/>
            <a:ext cx="1911095" cy="2286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游ゴシック"/>
              </a:rPr>
              <a:t>+ 1機能 — 三軸の好循環が完成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4320" y="868680"/>
            <a:ext cx="59436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B2E5B"/>
                </a:solidFill>
                <a:latin typeface="游ゴシック"/>
              </a:rPr>
              <a:t>■ 各フェーズで機能を上乗せ（cumulative）し、最終フェーズで開発×運用×運営の好循環が完成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74320" y="4846320"/>
            <a:ext cx="859536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800" b="0">
                <a:solidFill>
                  <a:srgbClr val="666A73"/>
                </a:solidFill>
                <a:latin typeface="游ゴシック"/>
              </a:rPr>
              <a:t>※ 階段の高さは各フェーズ終了時点の累計獲得機能数を視覚的に表現したものです（厳密な比例ではありません）。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2026-04-13T04:52:10Z</dcterms:created>
  <dcterms:modified xsi:type="dcterms:W3CDTF">2026-04-13T04:52:10Z</dcterms:modified>
</cp:coreProperties>
</file>