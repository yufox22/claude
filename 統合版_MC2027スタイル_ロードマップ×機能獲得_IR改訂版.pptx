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8"/>
    <p:sldId id="258" r:id="rId9"/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475488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56032" y="5486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都市開発事業　成長シナリオ ― 機能強化ロードマップ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498080" y="5486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A8B8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事業戦略（将来に関する記述を含みます）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" y="1828800"/>
            <a:ext cx="8997696" cy="10973"/>
          </a:xfrm>
          <a:prstGeom prst="rect">
            <a:avLst/>
          </a:prstGeom>
          <a:solidFill>
            <a:srgbClr val="CACDD8">
              <a:alpha val="60000"/>
            </a:srgbClr>
          </a:solidFill>
          <a:ln w="12700">
            <a:solidFill>
              <a:srgbClr val="CACDD8">
                <a:alpha val="6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63093" y="1828800"/>
            <a:ext cx="177112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8" name="Shape 6"/>
          <p:cNvSpPr/>
          <p:nvPr/>
        </p:nvSpPr>
        <p:spPr>
          <a:xfrm>
            <a:off x="4464834" y="1828800"/>
            <a:ext cx="177830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9" name="Shape 7"/>
          <p:cNvSpPr/>
          <p:nvPr/>
        </p:nvSpPr>
        <p:spPr>
          <a:xfrm>
            <a:off x="6414009" y="1828800"/>
            <a:ext cx="177112" cy="0"/>
          </a:xfrm>
          <a:prstGeom prst="line">
            <a:avLst/>
          </a:prstGeom>
          <a:noFill/>
          <a:ln w="19050">
            <a:solidFill>
              <a:srgbClr val="1A2648"/>
            </a:solidFill>
            <a:prstDash val="solid"/>
            <a:tailEnd type="open"/>
          </a:ln>
        </p:spPr>
      </p:sp>
      <p:sp>
        <p:nvSpPr>
          <p:cNvPr id="10" name="Shape 8"/>
          <p:cNvSpPr/>
          <p:nvPr/>
        </p:nvSpPr>
        <p:spPr>
          <a:xfrm>
            <a:off x="2076702" y="1399321"/>
            <a:ext cx="858958" cy="858958"/>
          </a:xfrm>
          <a:prstGeom prst="ellipse">
            <a:avLst/>
          </a:prstGeom>
          <a:solidFill>
            <a:srgbClr val="E8ECF5"/>
          </a:solidFill>
          <a:ln w="19050">
            <a:solidFill>
              <a:srgbClr val="8090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0734" y="1435897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50734" y="143589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131566" y="1609344"/>
            <a:ext cx="7492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(As is)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167637" y="1193918"/>
            <a:ext cx="1269765" cy="1269765"/>
          </a:xfrm>
          <a:prstGeom prst="ellipse">
            <a:avLst/>
          </a:prstGeom>
          <a:solidFill>
            <a:srgbClr val="D8E8F2"/>
          </a:solidFill>
          <a:ln w="19050">
            <a:solidFill>
              <a:srgbClr val="4A88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7071" y="1230494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47071" y="12304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222501" y="1609344"/>
            <a:ext cx="116003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戦略投資フェーズⅠ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70096" y="970560"/>
            <a:ext cx="1716481" cy="1716481"/>
          </a:xfrm>
          <a:prstGeom prst="ellipse">
            <a:avLst/>
          </a:prstGeom>
          <a:solidFill>
            <a:srgbClr val="D4EEE2"/>
          </a:solidFill>
          <a:ln w="19050">
            <a:solidFill>
              <a:srgbClr val="2A8A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72889" y="1007136"/>
            <a:ext cx="310896" cy="310896"/>
          </a:xfrm>
          <a:prstGeom prst="ellipse">
            <a:avLst/>
          </a:prstGeom>
          <a:solidFill>
            <a:srgbClr val="1A2648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889" y="100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724960" y="1609344"/>
            <a:ext cx="160675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戦略投資フェーズⅡ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18553" y="721347"/>
            <a:ext cx="2214906" cy="2214906"/>
          </a:xfrm>
          <a:prstGeom prst="ellipse">
            <a:avLst/>
          </a:prstGeom>
          <a:solidFill>
            <a:srgbClr val="FAE8E0"/>
          </a:solidFill>
          <a:ln w="19050">
            <a:solidFill>
              <a:srgbClr val="C850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70558" y="757923"/>
            <a:ext cx="310896" cy="310896"/>
          </a:xfrm>
          <a:prstGeom prst="ellipse">
            <a:avLst/>
          </a:prstGeom>
          <a:solidFill>
            <a:srgbClr val="C8102E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70558" y="7579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673417" y="1609344"/>
            <a:ext cx="21051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都市開発事業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の確立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993392" y="3000261"/>
            <a:ext cx="1058616" cy="91440"/>
          </a:xfrm>
          <a:prstGeom prst="rect">
            <a:avLst/>
          </a:prstGeom>
          <a:solidFill>
            <a:srgbClr val="E8ECF5">
              <a:alpha val="70000"/>
            </a:srgbClr>
          </a:solidFill>
          <a:ln w="12700">
            <a:solidFill>
              <a:srgbClr val="8090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06182" y="2258279"/>
            <a:ext cx="0" cy="100584"/>
          </a:xfrm>
          <a:prstGeom prst="line">
            <a:avLst/>
          </a:prstGeom>
          <a:noFill/>
          <a:ln w="10160">
            <a:solidFill>
              <a:srgbClr val="8090B8">
                <a:alpha val="8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52008" y="3000261"/>
            <a:ext cx="1501741" cy="91440"/>
          </a:xfrm>
          <a:prstGeom prst="rect">
            <a:avLst/>
          </a:prstGeom>
          <a:solidFill>
            <a:srgbClr val="D8E8F2">
              <a:alpha val="70000"/>
            </a:srgbClr>
          </a:solidFill>
          <a:ln w="12700">
            <a:solidFill>
              <a:srgbClr val="4A88B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02519" y="2463682"/>
            <a:ext cx="0" cy="100584"/>
          </a:xfrm>
          <a:prstGeom prst="line">
            <a:avLst/>
          </a:prstGeom>
          <a:noFill/>
          <a:ln w="10160">
            <a:solidFill>
              <a:srgbClr val="4A88B8">
                <a:alpha val="8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3749" y="3000261"/>
            <a:ext cx="1949175" cy="91440"/>
          </a:xfrm>
          <a:prstGeom prst="rect">
            <a:avLst/>
          </a:prstGeom>
          <a:solidFill>
            <a:srgbClr val="D4EEE2">
              <a:alpha val="70000"/>
            </a:srgbClr>
          </a:solidFill>
          <a:ln w="12700">
            <a:solidFill>
              <a:srgbClr val="2A8A5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28337" y="2687040"/>
            <a:ext cx="0" cy="100584"/>
          </a:xfrm>
          <a:prstGeom prst="line">
            <a:avLst/>
          </a:prstGeom>
          <a:noFill/>
          <a:ln w="10160">
            <a:solidFill>
              <a:srgbClr val="2A8A5A">
                <a:alpha val="8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02924" y="3000261"/>
            <a:ext cx="2586212" cy="91440"/>
          </a:xfrm>
          <a:prstGeom prst="rect">
            <a:avLst/>
          </a:prstGeom>
          <a:solidFill>
            <a:srgbClr val="FAE8E0">
              <a:alpha val="70000"/>
            </a:srgbClr>
          </a:solidFill>
          <a:ln w="12700">
            <a:solidFill>
              <a:srgbClr val="C8502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26006" y="2936253"/>
            <a:ext cx="0" cy="100584"/>
          </a:xfrm>
          <a:prstGeom prst="line">
            <a:avLst/>
          </a:prstGeom>
          <a:noFill/>
          <a:ln w="10160">
            <a:solidFill>
              <a:srgbClr val="C8502A">
                <a:alpha val="8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97050" y="3091701"/>
            <a:ext cx="1051301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029968" y="3091701"/>
            <a:ext cx="1003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現在 (As is)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055666" y="3091701"/>
            <a:ext cx="1494426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88584" y="3091701"/>
            <a:ext cx="14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戦略投資フェーズⅠ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57407" y="3091701"/>
            <a:ext cx="1941860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90325" y="3091701"/>
            <a:ext cx="18943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戦略投資フェーズⅡ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06582" y="3091701"/>
            <a:ext cx="2578897" cy="23774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9500" y="3091701"/>
            <a:ext cx="253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都市開発事業の確立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" y="3091701"/>
            <a:ext cx="1988820" cy="237744"/>
          </a:xfrm>
          <a:prstGeom prst="rect">
            <a:avLst/>
          </a:prstGeom>
          <a:solidFill>
            <a:srgbClr val="1A2648"/>
          </a:solidFill>
          <a:ln w="12700">
            <a:solidFill>
              <a:srgbClr val="1A264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" y="3091701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必要機能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" y="3329445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" y="3329445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296" y="3329445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多様なアセットクラスへの対応力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997050" y="3329445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97050" y="3329445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55666" y="3329445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55666" y="3329445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51" name="Shape 49"/>
          <p:cNvSpPr/>
          <p:nvPr/>
        </p:nvSpPr>
        <p:spPr>
          <a:xfrm>
            <a:off x="4557407" y="3329445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57407" y="3329445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53" name="Shape 51"/>
          <p:cNvSpPr/>
          <p:nvPr/>
        </p:nvSpPr>
        <p:spPr>
          <a:xfrm>
            <a:off x="6506582" y="3329445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06582" y="3329445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55" name="Shape 53"/>
          <p:cNvSpPr/>
          <p:nvPr/>
        </p:nvSpPr>
        <p:spPr>
          <a:xfrm>
            <a:off x="4572" y="3492105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72" y="3492105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296" y="3492105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産業・商業複合型 企画・ソーシング力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1997050" y="3492105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997050" y="3492105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055666" y="3492105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55666" y="3492105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62" name="Shape 60"/>
          <p:cNvSpPr/>
          <p:nvPr/>
        </p:nvSpPr>
        <p:spPr>
          <a:xfrm>
            <a:off x="4557407" y="3492105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57407" y="3492105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64" name="Shape 62"/>
          <p:cNvSpPr/>
          <p:nvPr/>
        </p:nvSpPr>
        <p:spPr>
          <a:xfrm>
            <a:off x="6506582" y="3492105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06582" y="3492105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66" name="Shape 64"/>
          <p:cNvSpPr/>
          <p:nvPr/>
        </p:nvSpPr>
        <p:spPr>
          <a:xfrm>
            <a:off x="4572" y="3654766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" y="3654766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2296" y="365476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バリューアップ型開発機能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1997050" y="3654766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97050" y="365476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055666" y="3654766"/>
            <a:ext cx="1494426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055666" y="365476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4557407" y="3654766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57407" y="365476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75" name="Shape 73"/>
          <p:cNvSpPr/>
          <p:nvPr/>
        </p:nvSpPr>
        <p:spPr>
          <a:xfrm>
            <a:off x="6506582" y="365476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06582" y="365476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77" name="Shape 75"/>
          <p:cNvSpPr/>
          <p:nvPr/>
        </p:nvSpPr>
        <p:spPr>
          <a:xfrm>
            <a:off x="4572" y="3817426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72" y="3817426"/>
            <a:ext cx="45720" cy="159003"/>
          </a:xfrm>
          <a:prstGeom prst="rect">
            <a:avLst/>
          </a:prstGeom>
          <a:solidFill>
            <a:srgbClr val="344E8A"/>
          </a:solidFill>
          <a:ln w="12700">
            <a:solidFill>
              <a:srgbClr val="344E8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" y="381742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開発〜Exitの収益サイクル確立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1997050" y="3817426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997050" y="381742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3055666" y="3817426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055666" y="381742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557407" y="3817426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57407" y="381742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86" name="Shape 84"/>
          <p:cNvSpPr/>
          <p:nvPr/>
        </p:nvSpPr>
        <p:spPr>
          <a:xfrm>
            <a:off x="6506582" y="381742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506582" y="381742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88" name="Shape 86"/>
          <p:cNvSpPr/>
          <p:nvPr/>
        </p:nvSpPr>
        <p:spPr>
          <a:xfrm>
            <a:off x="4572" y="3980086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572" y="3980086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296" y="3980086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投資家基盤の拡充・パイプライン構築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997050" y="3980086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997050" y="3980086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3055666" y="3980086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055666" y="3980086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95" name="Shape 93"/>
          <p:cNvSpPr/>
          <p:nvPr/>
        </p:nvSpPr>
        <p:spPr>
          <a:xfrm>
            <a:off x="4557407" y="3980086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57407" y="3980086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97" name="Shape 95"/>
          <p:cNvSpPr/>
          <p:nvPr/>
        </p:nvSpPr>
        <p:spPr>
          <a:xfrm>
            <a:off x="6506582" y="3980086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506582" y="3980086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99" name="Shape 97"/>
          <p:cNvSpPr/>
          <p:nvPr/>
        </p:nvSpPr>
        <p:spPr>
          <a:xfrm>
            <a:off x="4572" y="4142747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72" y="414274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2296" y="414274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ファンド組成・アセットマネジメント体制構築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1997050" y="4142747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997050" y="414274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3055666" y="4142747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055666" y="414274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06" name="Shape 104"/>
          <p:cNvSpPr/>
          <p:nvPr/>
        </p:nvSpPr>
        <p:spPr>
          <a:xfrm>
            <a:off x="4557407" y="4142747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557407" y="414274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08" name="Shape 106"/>
          <p:cNvSpPr/>
          <p:nvPr/>
        </p:nvSpPr>
        <p:spPr>
          <a:xfrm>
            <a:off x="6506582" y="414274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506582" y="414274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10" name="Shape 108"/>
          <p:cNvSpPr/>
          <p:nvPr/>
        </p:nvSpPr>
        <p:spPr>
          <a:xfrm>
            <a:off x="4572" y="4305407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572" y="430540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2296" y="430540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AUM拡大・投資判断力の体系化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1997050" y="4305407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997050" y="430540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3055666" y="4305407"/>
            <a:ext cx="1494426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055666" y="430540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4557407" y="4305407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557407" y="430540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19" name="Shape 117"/>
          <p:cNvSpPr/>
          <p:nvPr/>
        </p:nvSpPr>
        <p:spPr>
          <a:xfrm>
            <a:off x="6506582" y="430540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06582" y="430540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21" name="Shape 119"/>
          <p:cNvSpPr/>
          <p:nvPr/>
        </p:nvSpPr>
        <p:spPr>
          <a:xfrm>
            <a:off x="4572" y="4468067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572" y="4468067"/>
            <a:ext cx="45720" cy="159003"/>
          </a:xfrm>
          <a:prstGeom prst="rect">
            <a:avLst/>
          </a:prstGeom>
          <a:solidFill>
            <a:srgbClr val="2A6A8A"/>
          </a:solidFill>
          <a:ln w="12700">
            <a:solidFill>
              <a:srgbClr val="2A6A8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2296" y="446806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高付加価値事業の収益化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1997050" y="4468067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997050" y="446806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26" name="Shape 124"/>
          <p:cNvSpPr/>
          <p:nvPr/>
        </p:nvSpPr>
        <p:spPr>
          <a:xfrm>
            <a:off x="3055666" y="4468067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055666" y="446806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28" name="Shape 126"/>
          <p:cNvSpPr/>
          <p:nvPr/>
        </p:nvSpPr>
        <p:spPr>
          <a:xfrm>
            <a:off x="4557407" y="4468067"/>
            <a:ext cx="194186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557407" y="446806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6506582" y="4468067"/>
            <a:ext cx="2578897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506582" y="446806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32" name="Shape 130"/>
          <p:cNvSpPr/>
          <p:nvPr/>
        </p:nvSpPr>
        <p:spPr>
          <a:xfrm>
            <a:off x="4572" y="4630727"/>
            <a:ext cx="1988820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572" y="4630727"/>
            <a:ext cx="45720" cy="159003"/>
          </a:xfrm>
          <a:prstGeom prst="rect">
            <a:avLst/>
          </a:prstGeom>
          <a:solidFill>
            <a:srgbClr val="2A5A7A"/>
          </a:solidFill>
          <a:ln w="12700">
            <a:solidFill>
              <a:srgbClr val="2A5A7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2296" y="4630727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NOI拡大・バリューアップ機能の確立</a:t>
            </a:r>
            <a:endParaRPr lang="en-US" sz="800" dirty="0"/>
          </a:p>
        </p:txBody>
      </p:sp>
      <p:sp>
        <p:nvSpPr>
          <p:cNvPr id="135" name="Shape 133"/>
          <p:cNvSpPr/>
          <p:nvPr/>
        </p:nvSpPr>
        <p:spPr>
          <a:xfrm>
            <a:off x="1997050" y="4630727"/>
            <a:ext cx="1051301" cy="159003"/>
          </a:xfrm>
          <a:prstGeom prst="rect">
            <a:avLst/>
          </a:prstGeom>
          <a:solidFill>
            <a:srgbClr val="F2F4F7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997050" y="4630727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3055666" y="4630727"/>
            <a:ext cx="1494426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3055666" y="4630727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39" name="Shape 137"/>
          <p:cNvSpPr/>
          <p:nvPr/>
        </p:nvSpPr>
        <p:spPr>
          <a:xfrm>
            <a:off x="4557407" y="4630727"/>
            <a:ext cx="1941860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557407" y="4630727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41" name="Shape 139"/>
          <p:cNvSpPr/>
          <p:nvPr/>
        </p:nvSpPr>
        <p:spPr>
          <a:xfrm>
            <a:off x="6506582" y="4630727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506582" y="4630727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43" name="Shape 141"/>
          <p:cNvSpPr/>
          <p:nvPr/>
        </p:nvSpPr>
        <p:spPr>
          <a:xfrm>
            <a:off x="4572" y="4793388"/>
            <a:ext cx="1988820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572" y="4793388"/>
            <a:ext cx="45720" cy="159003"/>
          </a:xfrm>
          <a:prstGeom prst="rect">
            <a:avLst/>
          </a:prstGeom>
          <a:solidFill>
            <a:srgbClr val="2A5A7A"/>
          </a:solidFill>
          <a:ln w="12700">
            <a:solidFill>
              <a:srgbClr val="2A5A7A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82296" y="4793388"/>
            <a:ext cx="191109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関連事業の再編・都市運営プラットフォーム確立</a:t>
            </a:r>
            <a:endParaRPr lang="en-US" sz="800" dirty="0"/>
          </a:p>
        </p:txBody>
      </p:sp>
      <p:sp>
        <p:nvSpPr>
          <p:cNvPr id="146" name="Shape 144"/>
          <p:cNvSpPr/>
          <p:nvPr/>
        </p:nvSpPr>
        <p:spPr>
          <a:xfrm>
            <a:off x="1997050" y="4793388"/>
            <a:ext cx="1051301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997050" y="4793388"/>
            <a:ext cx="1051301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48" name="Shape 146"/>
          <p:cNvSpPr/>
          <p:nvPr/>
        </p:nvSpPr>
        <p:spPr>
          <a:xfrm>
            <a:off x="3055666" y="4793388"/>
            <a:ext cx="1494426" cy="159003"/>
          </a:xfrm>
          <a:prstGeom prst="rect">
            <a:avLst/>
          </a:prstGeom>
          <a:solidFill>
            <a:srgbClr val="E8EBF0"/>
          </a:solidFill>
          <a:ln w="4445">
            <a:solidFill>
              <a:srgbClr val="CACDD8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3055666" y="4793388"/>
            <a:ext cx="1494426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A9A"/>
                </a:solidFill>
              </a:rPr>
              <a:t>―</a:t>
            </a:r>
            <a:endParaRPr lang="en-US" sz="900" dirty="0"/>
          </a:p>
        </p:txBody>
      </p:sp>
      <p:sp>
        <p:nvSpPr>
          <p:cNvPr id="150" name="Shape 148"/>
          <p:cNvSpPr/>
          <p:nvPr/>
        </p:nvSpPr>
        <p:spPr>
          <a:xfrm>
            <a:off x="4557407" y="4793388"/>
            <a:ext cx="1941860" cy="159003"/>
          </a:xfrm>
          <a:prstGeom prst="rect">
            <a:avLst/>
          </a:prstGeom>
          <a:solidFill>
            <a:srgbClr val="FFF0F2"/>
          </a:solidFill>
          <a:ln w="19050">
            <a:solidFill>
              <a:srgbClr val="C8102E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557407" y="4793388"/>
            <a:ext cx="1941860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 獲得</a:t>
            </a:r>
            <a:endParaRPr lang="en-US" sz="285" dirty="0"/>
          </a:p>
        </p:txBody>
      </p:sp>
      <p:sp>
        <p:nvSpPr>
          <p:cNvPr id="152" name="Shape 150"/>
          <p:cNvSpPr/>
          <p:nvPr/>
        </p:nvSpPr>
        <p:spPr>
          <a:xfrm>
            <a:off x="6506582" y="4793388"/>
            <a:ext cx="2578897" cy="159003"/>
          </a:xfrm>
          <a:prstGeom prst="rect">
            <a:avLst/>
          </a:prstGeom>
          <a:solidFill>
            <a:srgbClr val="F0F7F3"/>
          </a:solidFill>
          <a:ln w="8890">
            <a:solidFill>
              <a:srgbClr val="2A7A5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6506582" y="4793388"/>
            <a:ext cx="2578897" cy="159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" b="1" dirty="0">
                <a:solidFill>
                  <a:srgbClr val="2A7A50"/>
                </a:solidFill>
              </a:rPr>
              <a:t>✓</a:t>
            </a:r>
            <a:endParaRPr lang="en-US" sz="320" dirty="0"/>
          </a:p>
        </p:txBody>
      </p:sp>
      <p:sp>
        <p:nvSpPr>
          <p:cNvPr id="154" name="Shape 152"/>
          <p:cNvSpPr/>
          <p:nvPr/>
        </p:nvSpPr>
        <p:spPr>
          <a:xfrm>
            <a:off x="3052008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553749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502924" y="3091701"/>
            <a:ext cx="0" cy="1873491"/>
          </a:xfrm>
          <a:prstGeom prst="line">
            <a:avLst/>
          </a:prstGeom>
          <a:noFill/>
          <a:ln w="7620">
            <a:solidFill>
              <a:srgbClr val="CACDD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572" y="3972771"/>
            <a:ext cx="9134856" cy="12802"/>
          </a:xfrm>
          <a:prstGeom prst="rect">
            <a:avLst/>
          </a:prstGeom>
          <a:solidFill>
            <a:srgbClr val="1A2648">
              <a:alpha val="20000"/>
            </a:srgbClr>
          </a:solidFill>
          <a:ln w="12700">
            <a:solidFill>
              <a:srgbClr val="1A2648">
                <a:alpha val="2000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72" y="4623412"/>
            <a:ext cx="9134856" cy="12802"/>
          </a:xfrm>
          <a:prstGeom prst="rect">
            <a:avLst/>
          </a:prstGeom>
          <a:solidFill>
            <a:srgbClr val="1A2648">
              <a:alpha val="20000"/>
            </a:srgbClr>
          </a:solidFill>
          <a:ln w="12700">
            <a:solidFill>
              <a:srgbClr val="1A2648">
                <a:alpha val="2000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025128" y="3338589"/>
            <a:ext cx="109728" cy="63235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9025128" y="3338589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</a:t>
            </a:r>
            <a:endParaRPr lang="en-US" sz="650" dirty="0"/>
          </a:p>
        </p:txBody>
      </p:sp>
      <p:sp>
        <p:nvSpPr>
          <p:cNvPr id="161" name="Text 159"/>
          <p:cNvSpPr/>
          <p:nvPr/>
        </p:nvSpPr>
        <p:spPr>
          <a:xfrm>
            <a:off x="9025128" y="3537182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9025128" y="3735774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63" name="Shape 161"/>
          <p:cNvSpPr/>
          <p:nvPr/>
        </p:nvSpPr>
        <p:spPr>
          <a:xfrm>
            <a:off x="9025128" y="3989230"/>
            <a:ext cx="109728" cy="63235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025128" y="3989230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025128" y="4187823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9025128" y="4386415"/>
            <a:ext cx="109728" cy="19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67" name="Shape 165"/>
          <p:cNvSpPr/>
          <p:nvPr/>
        </p:nvSpPr>
        <p:spPr>
          <a:xfrm>
            <a:off x="9025128" y="4639871"/>
            <a:ext cx="109728" cy="307033"/>
          </a:xfrm>
          <a:prstGeom prst="rect">
            <a:avLst/>
          </a:prstGeom>
          <a:solidFill>
            <a:srgbClr val="1A2648">
              <a:alpha val="15000"/>
            </a:srgbClr>
          </a:solidFill>
          <a:ln w="6350">
            <a:solidFill>
              <a:srgbClr val="CACDD8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9025128" y="4639871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025128" y="4730024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</a:t>
            </a:r>
            <a:endParaRPr lang="en-US" sz="650" dirty="0"/>
          </a:p>
        </p:txBody>
      </p:sp>
      <p:sp>
        <p:nvSpPr>
          <p:cNvPr id="170" name="Text 168"/>
          <p:cNvSpPr/>
          <p:nvPr/>
        </p:nvSpPr>
        <p:spPr>
          <a:xfrm>
            <a:off x="9025128" y="4820176"/>
            <a:ext cx="109728" cy="90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力</a:t>
            </a:r>
            <a:endParaRPr lang="en-US" sz="650" dirty="0"/>
          </a:p>
        </p:txBody>
      </p:sp>
      <p:sp>
        <p:nvSpPr>
          <p:cNvPr id="171" name="Shape 169"/>
          <p:cNvSpPr/>
          <p:nvPr/>
        </p:nvSpPr>
        <p:spPr>
          <a:xfrm>
            <a:off x="4572" y="3091701"/>
            <a:ext cx="9134856" cy="1873491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1A264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09728" y="5010912"/>
            <a:ext cx="164592" cy="128016"/>
          </a:xfrm>
          <a:prstGeom prst="rect">
            <a:avLst/>
          </a:prstGeom>
          <a:solidFill>
            <a:srgbClr val="FFF0F2"/>
          </a:solidFill>
          <a:ln w="10160">
            <a:solidFill>
              <a:srgbClr val="C8102E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09728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10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●</a:t>
            </a:r>
            <a:endParaRPr lang="en-US" sz="800" dirty="0"/>
          </a:p>
        </p:txBody>
      </p:sp>
      <p:sp>
        <p:nvSpPr>
          <p:cNvPr id="174" name="Text 172"/>
          <p:cNvSpPr/>
          <p:nvPr/>
        </p:nvSpPr>
        <p:spPr>
          <a:xfrm>
            <a:off x="310896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当該フェーズで獲得予定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1499616" y="5010912"/>
            <a:ext cx="164592" cy="128016"/>
          </a:xfrm>
          <a:prstGeom prst="rect">
            <a:avLst/>
          </a:prstGeom>
          <a:solidFill>
            <a:srgbClr val="F0F7F3"/>
          </a:solidFill>
          <a:ln w="10160">
            <a:solidFill>
              <a:srgbClr val="2A7A5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499616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7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</a:t>
            </a:r>
            <a:endParaRPr lang="en-US" sz="800" dirty="0"/>
          </a:p>
        </p:txBody>
      </p:sp>
      <p:sp>
        <p:nvSpPr>
          <p:cNvPr id="177" name="Text 175"/>
          <p:cNvSpPr/>
          <p:nvPr/>
        </p:nvSpPr>
        <p:spPr>
          <a:xfrm>
            <a:off x="1700784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獲得済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2889504" y="5010912"/>
            <a:ext cx="164592" cy="128016"/>
          </a:xfrm>
          <a:prstGeom prst="rect">
            <a:avLst/>
          </a:prstGeom>
          <a:solidFill>
            <a:srgbClr val="F2F4F7"/>
          </a:solidFill>
          <a:ln w="10160">
            <a:solidFill>
              <a:srgbClr val="8A8A9A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889504" y="5010912"/>
            <a:ext cx="164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A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―</a:t>
            </a:r>
            <a:endParaRPr lang="en-US" sz="800" dirty="0"/>
          </a:p>
        </p:txBody>
      </p:sp>
      <p:sp>
        <p:nvSpPr>
          <p:cNvPr id="180" name="Text 178"/>
          <p:cNvSpPr/>
          <p:nvPr/>
        </p:nvSpPr>
        <p:spPr>
          <a:xfrm>
            <a:off x="3090672" y="5010912"/>
            <a:ext cx="11521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4A5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未獲得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0" y="5029200"/>
            <a:ext cx="9144000" cy="822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0" y="5029200"/>
            <a:ext cx="9144000" cy="20117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01168" y="5047488"/>
            <a:ext cx="877824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26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各フェーズで機能を段階的に積み上げ、開発力・運用力・運営力の三軸確立により、持続的な都市開発事業の実現を目指す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9144000" cy="46405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685800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游ゴシック"/>
              </a:rPr>
              <a:t>エグゼクティブサマリ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5720"/>
            <a:ext cx="219456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游ゴシック"/>
              </a:rPr>
              <a:t>事業戦略（将来に関する記述を含みます）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66A73"/>
                </a:solidFill>
                <a:latin typeface="游ゴシック"/>
              </a:rPr>
              <a:t>都市開発事業の確立に向けた 目的・手段・課題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960120"/>
            <a:ext cx="27432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目的 (Purpose)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B2E5B"/>
                </a:solidFill>
                <a:latin typeface="游ゴシック"/>
              </a:rPr>
              <a:t>何を実現するか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中核収益基盤の確立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都市開発事業を三菱商事グループの中核収益基盤の一つへ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規模ある付加価値型開発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多様なアセットクラスにわたる、付加価値の高い都市開発事業の展開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持続的な企業価値向上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開発・運用・運営の三軸による持続的なキャッシュ・フロー創出と ROE 向上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60120"/>
            <a:ext cx="2743200" cy="502920"/>
          </a:xfrm>
          <a:prstGeom prst="rect">
            <a:avLst/>
          </a:prstGeom>
          <a:solidFill>
            <a:srgbClr val="007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手段 (Means)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007A87"/>
                </a:solidFill>
                <a:latin typeface="游ゴシック"/>
              </a:rPr>
              <a:t>どう実現するか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三軸の機能強化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開発力・運用力・運営力の10機能を段階的に獲得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段階的な戦略投資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戦略投資フェーズⅠ（基盤構築）→ Ⅱ（事業拡大）の2段階で投下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開発×運用の好循環モデル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開発案件を運用プラットフォームへ組入れ、運用収益を次の開発に再投下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投資規律とリスク管理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規模と資本効率を両立させる投資判断力の体系化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960120"/>
            <a:ext cx="2743200" cy="502920"/>
          </a:xfrm>
          <a:prstGeom prst="rect">
            <a:avLst/>
          </a:prstGeom>
          <a:solidFill>
            <a:srgbClr val="B7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9601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游ゴシック"/>
              </a:rPr>
              <a:t>課題 (Issues)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463040"/>
            <a:ext cx="274320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B76E00"/>
                </a:solidFill>
                <a:latin typeface="游ゴシック"/>
              </a:rPr>
              <a:t>何がボトルネックか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28800"/>
            <a:ext cx="2468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33333"/>
                </a:solidFill>
                <a:latin typeface="游ゴシック"/>
              </a:rPr>
              <a:t>■ バリューアップ型開発機能の未確立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現状は幅広いアセットライン対応のみ。付加価値創出の設計力が不足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開発〜Exit収益サイクル未確立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開発資産をExitし収益計上する出口戦略が未整備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AUM拡大・投資判断力の体系化未着手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ファンド組成・投資家基盤と連動した投資目利き・アンダーライティングの仕組み化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333333"/>
                </a:solidFill>
                <a:latin typeface="游ゴシック"/>
              </a:rPr>
              <a:t>■ 都市運営プラットフォームの不在</a:t>
            </a:r>
          </a:p>
          <a:p>
            <a:pPr lvl="1">
              <a:spcBef>
                <a:spcPts val="100"/>
              </a:spcBef>
            </a:pPr>
            <a:r>
              <a:rPr sz="900">
                <a:solidFill>
                  <a:srgbClr val="666A73"/>
                </a:solidFill>
                <a:latin typeface="游ゴシック"/>
              </a:rPr>
              <a:t>  NOI拡大・バリューアップを継続的に回す運営主体が未確立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666A73"/>
                </a:solidFill>
                <a:latin typeface="游ゴシック"/>
              </a:rPr>
              <a:t>※ 本ページの記述には将来見通しに関する情報を含み、実際の結果と異なる可能性があります。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9144000" cy="464058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685800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游ゴシック"/>
              </a:rPr>
              <a:t>都市開発事業 ロードマップ概観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45720"/>
            <a:ext cx="219456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游ゴシック"/>
              </a:rPr>
              <a:t>事業戦略（将来に関する記述を含みます）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48640"/>
            <a:ext cx="8595360" cy="320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66A73"/>
                </a:solidFill>
                <a:latin typeface="游ゴシック"/>
              </a:rPr>
              <a:t>現在 → 戦略投資フェーズⅠ → Ⅱ → 都市開発事業の確立</a:t>
            </a:r>
          </a:p>
        </p:txBody>
      </p:sp>
      <p:sp>
        <p:nvSpPr>
          <p:cNvPr id="7" name="Rectangle 6"/>
          <p:cNvSpPr/>
          <p:nvPr/>
        </p:nvSpPr>
        <p:spPr>
          <a:xfrm>
            <a:off x="7534655" y="1289303"/>
            <a:ext cx="201168" cy="457200"/>
          </a:xfrm>
          <a:prstGeom prst="rect">
            <a:avLst/>
          </a:prstGeom>
          <a:solidFill>
            <a:srgbClr val="6A6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5486399" y="1234439"/>
            <a:ext cx="2103120" cy="457200"/>
          </a:xfrm>
          <a:prstGeom prst="parallelogram">
            <a:avLst/>
          </a:prstGeom>
          <a:solidFill>
            <a:srgbClr val="A9A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</a:rPr>
              <a:t>都市開発事業の確立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199" y="731519"/>
            <a:ext cx="169164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602E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9" y="731519"/>
            <a:ext cx="169164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602E9A"/>
                </a:solidFill>
                <a:latin typeface="游ゴシック"/>
              </a:rPr>
              <a:t>2025〜2027年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7296" y="1883663"/>
            <a:ext cx="201168" cy="457200"/>
          </a:xfrm>
          <a:prstGeom prst="rect">
            <a:avLst/>
          </a:prstGeom>
          <a:solidFill>
            <a:srgbClr val="4A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3749039" y="1828799"/>
            <a:ext cx="2103120" cy="457200"/>
          </a:xfrm>
          <a:prstGeom prst="parallelogram">
            <a:avLst/>
          </a:prstGeom>
          <a:solidFill>
            <a:srgbClr val="A9C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</a:rPr>
              <a:t>戦略投資フェーズⅡ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59936" y="2478024"/>
            <a:ext cx="201168" cy="457200"/>
          </a:xfrm>
          <a:prstGeom prst="rect">
            <a:avLst/>
          </a:prstGeom>
          <a:solidFill>
            <a:srgbClr val="2D8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2011679" y="2423160"/>
            <a:ext cx="2103120" cy="457200"/>
          </a:xfrm>
          <a:prstGeom prst="parallelogram">
            <a:avLst/>
          </a:prstGeom>
          <a:solidFill>
            <a:srgbClr val="4FB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</a:rPr>
              <a:t>戦略投資フェーズⅠ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22575" y="3072384"/>
            <a:ext cx="201168" cy="457200"/>
          </a:xfrm>
          <a:prstGeom prst="rect">
            <a:avLst/>
          </a:prstGeom>
          <a:solidFill>
            <a:srgbClr val="4A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274320" y="3017520"/>
            <a:ext cx="2103120" cy="457200"/>
          </a:xfrm>
          <a:prstGeom prst="parallelogram">
            <a:avLst/>
          </a:prstGeom>
          <a:solidFill>
            <a:srgbClr val="A9C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</a:rPr>
              <a:t>現在 (As is)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40480"/>
            <a:ext cx="1097280" cy="38404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840480"/>
            <a:ext cx="10972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游ゴシック"/>
              </a:rPr>
              <a:t>運用機能</a:t>
            </a:r>
          </a:p>
        </p:txBody>
      </p:sp>
      <p:sp>
        <p:nvSpPr>
          <p:cNvPr id="19" name="Pentagon 18"/>
          <p:cNvSpPr/>
          <p:nvPr/>
        </p:nvSpPr>
        <p:spPr>
          <a:xfrm>
            <a:off x="1417320" y="3840480"/>
            <a:ext cx="4251960" cy="384048"/>
          </a:xfrm>
          <a:prstGeom prst="homePlate">
            <a:avLst/>
          </a:prstGeom>
          <a:solidFill>
            <a:srgbClr val="FFFFFF"/>
          </a:solidFill>
          <a:ln w="15875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11480"/>
          <a:lstStyle/>
          <a:p>
            <a:pPr algn="l"/>
            <a:r>
              <a:rPr sz="1100" b="1">
                <a:solidFill>
                  <a:srgbClr val="333333"/>
                </a:solidFill>
                <a:latin typeface="游ゴシック"/>
              </a:rPr>
              <a:t>不動産運用事業の機能強化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343400"/>
            <a:ext cx="1097280" cy="38404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10972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游ゴシック"/>
              </a:rPr>
              <a:t>開発機能</a:t>
            </a:r>
          </a:p>
        </p:txBody>
      </p:sp>
      <p:sp>
        <p:nvSpPr>
          <p:cNvPr id="22" name="Pentagon 21"/>
          <p:cNvSpPr/>
          <p:nvPr/>
        </p:nvSpPr>
        <p:spPr>
          <a:xfrm>
            <a:off x="1417320" y="4343400"/>
            <a:ext cx="7452359" cy="384048"/>
          </a:xfrm>
          <a:prstGeom prst="homePlate">
            <a:avLst/>
          </a:prstGeom>
          <a:solidFill>
            <a:srgbClr val="FFFFFF"/>
          </a:solidFill>
          <a:ln w="15875"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411480"/>
          <a:lstStyle/>
          <a:p>
            <a:pPr algn="l"/>
            <a:r>
              <a:rPr sz="1100" b="1">
                <a:solidFill>
                  <a:srgbClr val="333333"/>
                </a:solidFill>
                <a:latin typeface="游ゴシック"/>
              </a:rPr>
              <a:t>回転型不動産事業の機能強化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84632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800" b="0">
                <a:solidFill>
                  <a:srgbClr val="666A73"/>
                </a:solidFill>
                <a:latin typeface="游ゴシック"/>
              </a:rPr>
              <a:t>※ 各フェーズで運用・開発の機能を順次強化し、最終的に回転型不動産事業を確立します。本ページの記述には将来見通しに関する情報を含みます。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2026-04-13T04:52:10Z</dcterms:created>
  <dcterms:modified xsi:type="dcterms:W3CDTF">2026-04-13T04:52:10Z</dcterms:modified>
</cp:coreProperties>
</file>