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8" r:id="rId9"/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475488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5486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　成長シナリオ ― 機能強化ロードマップ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5486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8B8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事業戦略（将来に関する記述を含みます）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" y="1828800"/>
            <a:ext cx="8997696" cy="10973"/>
          </a:xfrm>
          <a:prstGeom prst="rect">
            <a:avLst/>
          </a:prstGeom>
          <a:solidFill>
            <a:srgbClr val="CACDD8">
              <a:alpha val="60000"/>
            </a:srgbClr>
          </a:solidFill>
          <a:ln w="12700">
            <a:solidFill>
              <a:srgbClr val="CACDD8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63093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8" name="Shape 6"/>
          <p:cNvSpPr/>
          <p:nvPr/>
        </p:nvSpPr>
        <p:spPr>
          <a:xfrm>
            <a:off x="4464834" y="1828800"/>
            <a:ext cx="177830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9" name="Shape 7"/>
          <p:cNvSpPr/>
          <p:nvPr/>
        </p:nvSpPr>
        <p:spPr>
          <a:xfrm>
            <a:off x="6414009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10" name="Shape 8"/>
          <p:cNvSpPr/>
          <p:nvPr/>
        </p:nvSpPr>
        <p:spPr>
          <a:xfrm>
            <a:off x="2076702" y="1399321"/>
            <a:ext cx="858958" cy="858958"/>
          </a:xfrm>
          <a:prstGeom prst="ellipse">
            <a:avLst/>
          </a:prstGeom>
          <a:solidFill>
            <a:srgbClr val="E8ECF5"/>
          </a:solidFill>
          <a:ln w="19050">
            <a:solidFill>
              <a:srgbClr val="8090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0734" y="1435897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0734" y="14358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131566" y="1609344"/>
            <a:ext cx="7492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(As is)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167637" y="1193918"/>
            <a:ext cx="1269765" cy="1269765"/>
          </a:xfrm>
          <a:prstGeom prst="ellipse">
            <a:avLst/>
          </a:prstGeom>
          <a:solidFill>
            <a:srgbClr val="D8E8F2"/>
          </a:solidFill>
          <a:ln w="19050">
            <a:solidFill>
              <a:srgbClr val="4A88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7071" y="1230494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47071" y="12304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222501" y="1609344"/>
            <a:ext cx="116003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0096" y="970560"/>
            <a:ext cx="1716481" cy="1716481"/>
          </a:xfrm>
          <a:prstGeom prst="ellipse">
            <a:avLst/>
          </a:prstGeom>
          <a:solidFill>
            <a:srgbClr val="D4EEE2"/>
          </a:solidFill>
          <a:ln w="19050">
            <a:solidFill>
              <a:srgbClr val="2A8A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2889" y="1007136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889" y="100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724960" y="1609344"/>
            <a:ext cx="160675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18553" y="721347"/>
            <a:ext cx="2214906" cy="2214906"/>
          </a:xfrm>
          <a:prstGeom prst="ellipse">
            <a:avLst/>
          </a:prstGeom>
          <a:solidFill>
            <a:srgbClr val="FAE8E0"/>
          </a:solidFill>
          <a:ln w="19050">
            <a:solidFill>
              <a:srgbClr val="C850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70558" y="757923"/>
            <a:ext cx="310896" cy="310896"/>
          </a:xfrm>
          <a:prstGeom prst="ellipse">
            <a:avLst/>
          </a:prstGeom>
          <a:solidFill>
            <a:srgbClr val="C8102E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70558" y="7579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673417" y="1609344"/>
            <a:ext cx="21051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の確立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993392" y="3000261"/>
            <a:ext cx="1058616" cy="91440"/>
          </a:xfrm>
          <a:prstGeom prst="rect">
            <a:avLst/>
          </a:prstGeom>
          <a:solidFill>
            <a:srgbClr val="E8ECF5">
              <a:alpha val="70000"/>
            </a:srgbClr>
          </a:solidFill>
          <a:ln w="12700">
            <a:solidFill>
              <a:srgbClr val="8090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6182" y="2258279"/>
            <a:ext cx="0" cy="100584"/>
          </a:xfrm>
          <a:prstGeom prst="line">
            <a:avLst/>
          </a:prstGeom>
          <a:noFill/>
          <a:ln w="10160">
            <a:solidFill>
              <a:srgbClr val="8090B8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52008" y="3000261"/>
            <a:ext cx="1501741" cy="91440"/>
          </a:xfrm>
          <a:prstGeom prst="rect">
            <a:avLst/>
          </a:prstGeom>
          <a:solidFill>
            <a:srgbClr val="D8E8F2">
              <a:alpha val="70000"/>
            </a:srgbClr>
          </a:solidFill>
          <a:ln w="12700">
            <a:solidFill>
              <a:srgbClr val="4A88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02519" y="2463682"/>
            <a:ext cx="0" cy="100584"/>
          </a:xfrm>
          <a:prstGeom prst="line">
            <a:avLst/>
          </a:prstGeom>
          <a:noFill/>
          <a:ln w="10160">
            <a:solidFill>
              <a:srgbClr val="4A88B8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3749" y="3000261"/>
            <a:ext cx="1949175" cy="91440"/>
          </a:xfrm>
          <a:prstGeom prst="rect">
            <a:avLst/>
          </a:prstGeom>
          <a:solidFill>
            <a:srgbClr val="D4EEE2">
              <a:alpha val="70000"/>
            </a:srgbClr>
          </a:solidFill>
          <a:ln w="12700">
            <a:solidFill>
              <a:srgbClr val="2A8A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28337" y="2687040"/>
            <a:ext cx="0" cy="100584"/>
          </a:xfrm>
          <a:prstGeom prst="line">
            <a:avLst/>
          </a:prstGeom>
          <a:noFill/>
          <a:ln w="10160">
            <a:solidFill>
              <a:srgbClr val="2A8A5A">
                <a:alpha val="8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02924" y="3000261"/>
            <a:ext cx="2586212" cy="91440"/>
          </a:xfrm>
          <a:prstGeom prst="rect">
            <a:avLst/>
          </a:prstGeom>
          <a:solidFill>
            <a:srgbClr val="FAE8E0">
              <a:alpha val="70000"/>
            </a:srgbClr>
          </a:solidFill>
          <a:ln w="12700">
            <a:solidFill>
              <a:srgbClr val="C85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26006" y="2936253"/>
            <a:ext cx="0" cy="100584"/>
          </a:xfrm>
          <a:prstGeom prst="line">
            <a:avLst/>
          </a:prstGeom>
          <a:noFill/>
          <a:ln w="10160">
            <a:solidFill>
              <a:srgbClr val="C8502A">
                <a:alpha val="8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97050" y="3091701"/>
            <a:ext cx="1051301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29968" y="3091701"/>
            <a:ext cx="1003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現在 (As is)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055666" y="3091701"/>
            <a:ext cx="1494426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88584" y="3091701"/>
            <a:ext cx="14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戦略投資フェーズⅠ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57407" y="3091701"/>
            <a:ext cx="194186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90325" y="3091701"/>
            <a:ext cx="18943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戦略投資フェーズⅡ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06582" y="3091701"/>
            <a:ext cx="2578897" cy="2377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9500" y="3091701"/>
            <a:ext cx="253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都市開発事業の確立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" y="3091701"/>
            <a:ext cx="198882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" y="3091701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必要機能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" y="3329445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" y="332944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" y="332944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多様なアセットクラスへの対応力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51" name="Shape 49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3" name="Shape 51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5" name="Shape 53"/>
          <p:cNvSpPr/>
          <p:nvPr/>
        </p:nvSpPr>
        <p:spPr>
          <a:xfrm>
            <a:off x="4572" y="3492105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" y="349210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296" y="349210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産業・商業複合型 企画・ソーシング力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62" name="Shape 60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4" name="Shape 62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6" name="Shape 64"/>
          <p:cNvSpPr/>
          <p:nvPr/>
        </p:nvSpPr>
        <p:spPr>
          <a:xfrm>
            <a:off x="4572" y="365476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" y="365476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96" y="365476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バリューアップ型開発機能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75" name="Shape 73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77" name="Shape 75"/>
          <p:cNvSpPr/>
          <p:nvPr/>
        </p:nvSpPr>
        <p:spPr>
          <a:xfrm>
            <a:off x="4572" y="3817426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72" y="381742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" y="381742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開発〜Exitの収益サイクル確立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86" name="Shape 84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88" name="Shape 86"/>
          <p:cNvSpPr/>
          <p:nvPr/>
        </p:nvSpPr>
        <p:spPr>
          <a:xfrm>
            <a:off x="4572" y="398008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572" y="3980086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296" y="398008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投資家基盤の拡充・パイプライン構築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95" name="Shape 93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7" name="Shape 95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9" name="Shape 97"/>
          <p:cNvSpPr/>
          <p:nvPr/>
        </p:nvSpPr>
        <p:spPr>
          <a:xfrm>
            <a:off x="4572" y="414274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72" y="414274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2296" y="414274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ファンド組成・アセットマネジメント体制構築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06" name="Shape 104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08" name="Shape 106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10" name="Shape 108"/>
          <p:cNvSpPr/>
          <p:nvPr/>
        </p:nvSpPr>
        <p:spPr>
          <a:xfrm>
            <a:off x="4572" y="430540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72" y="430540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" y="430540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AUM拡大・投資判断力の体系化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19" name="Shape 117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21" name="Shape 119"/>
          <p:cNvSpPr/>
          <p:nvPr/>
        </p:nvSpPr>
        <p:spPr>
          <a:xfrm>
            <a:off x="4572" y="446806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572" y="446806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296" y="446806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高付加価値事業の収益化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2" name="Shape 130"/>
          <p:cNvSpPr/>
          <p:nvPr/>
        </p:nvSpPr>
        <p:spPr>
          <a:xfrm>
            <a:off x="4572" y="463072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72" y="4630727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2296" y="463072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NOI拡大・バリューアップ機能の確立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9" name="Shape 137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1" name="Shape 139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3" name="Shape 141"/>
          <p:cNvSpPr/>
          <p:nvPr/>
        </p:nvSpPr>
        <p:spPr>
          <a:xfrm>
            <a:off x="4572" y="4793388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572" y="4793388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82296" y="4793388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関連事業の再編・都市運営プラットフォーム確立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52" name="Shape 150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54" name="Shape 152"/>
          <p:cNvSpPr/>
          <p:nvPr/>
        </p:nvSpPr>
        <p:spPr>
          <a:xfrm>
            <a:off x="3052008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553749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502924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72" y="3972771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72" y="4623412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025128" y="3338589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9025128" y="3338589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9025128" y="3537182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9025128" y="3735774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9025128" y="3989230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025128" y="3989230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025128" y="4187823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9025128" y="4386415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9025128" y="4639871"/>
            <a:ext cx="109728" cy="30703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9025128" y="4639871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025128" y="4730024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</a:t>
            </a:r>
            <a:endParaRPr lang="en-US" sz="650" dirty="0"/>
          </a:p>
        </p:txBody>
      </p:sp>
      <p:sp>
        <p:nvSpPr>
          <p:cNvPr id="170" name="Text 168"/>
          <p:cNvSpPr/>
          <p:nvPr/>
        </p:nvSpPr>
        <p:spPr>
          <a:xfrm>
            <a:off x="9025128" y="4820176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4572" y="3091701"/>
            <a:ext cx="9134856" cy="1873491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1A264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solidFill>
            <a:srgbClr val="FFF0F2"/>
          </a:solidFill>
          <a:ln w="10160">
            <a:solidFill>
              <a:srgbClr val="C8102E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</a:t>
            </a:r>
            <a:endParaRPr lang="en-US" sz="800" dirty="0"/>
          </a:p>
        </p:txBody>
      </p:sp>
      <p:sp>
        <p:nvSpPr>
          <p:cNvPr id="174" name="Text 172"/>
          <p:cNvSpPr/>
          <p:nvPr/>
        </p:nvSpPr>
        <p:spPr>
          <a:xfrm>
            <a:off x="310896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当該フェーズで獲得予定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solidFill>
            <a:srgbClr val="F0F7F3"/>
          </a:solidFill>
          <a:ln w="10160">
            <a:solidFill>
              <a:srgbClr val="2A7A5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7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800" dirty="0"/>
          </a:p>
        </p:txBody>
      </p:sp>
      <p:sp>
        <p:nvSpPr>
          <p:cNvPr id="177" name="Text 175"/>
          <p:cNvSpPr/>
          <p:nvPr/>
        </p:nvSpPr>
        <p:spPr>
          <a:xfrm>
            <a:off x="1700784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獲得済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solidFill>
            <a:srgbClr val="F2F4F7"/>
          </a:solidFill>
          <a:ln w="10160">
            <a:solidFill>
              <a:srgbClr val="8A8A9A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</a:t>
            </a:r>
            <a:endParaRPr lang="en-US" sz="800" dirty="0"/>
          </a:p>
        </p:txBody>
      </p:sp>
      <p:sp>
        <p:nvSpPr>
          <p:cNvPr id="180" name="Text 178"/>
          <p:cNvSpPr/>
          <p:nvPr/>
        </p:nvSpPr>
        <p:spPr>
          <a:xfrm>
            <a:off x="3090672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未獲得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0" y="5029200"/>
            <a:ext cx="9144000" cy="8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0" y="5029200"/>
            <a:ext cx="9144000" cy="20117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01168" y="5047488"/>
            <a:ext cx="877824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各フェーズで機能を段階的に積み上げ、開発力・運用力・運営力の三軸確立により、持続的な都市開発事業の実現を目指す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エグゼクティブサマリ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都市開発事業の確立に向けた 目的・手段・課題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960120"/>
            <a:ext cx="27432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目的 (Purpose)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B2E5B"/>
                </a:solidFill>
                <a:latin typeface="游ゴシック"/>
              </a:rPr>
              <a:t>何を実現するか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中核収益基盤の確立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都市開発事業を三菱商事グループの中核収益基盤の一つへ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規模ある付加価値型開発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多様なアセットクラスにわたる、付加価値の高い都市開発事業の展開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持続的な企業価値向上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開発・運用・運営の三軸による持続的なキャッシュ・フロー創出と ROE 向上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60120"/>
            <a:ext cx="2743200" cy="502920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手段 (Means)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7A87"/>
                </a:solidFill>
                <a:latin typeface="游ゴシック"/>
              </a:rPr>
              <a:t>どう実現するか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三軸の機能強化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開発力・運用力・運営力の10機能を段階的に獲得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段階的な戦略投資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戦略投資フェーズⅠ（基盤構築）→ Ⅱ（事業拡大）の2段階で投下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開発×運用の好循環モデル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開発案件を運用プラットフォームへ組入れ、運用収益を次の開発に再投下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投資規律とリスク管理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規模と資本効率を両立させる投資判断力の体系化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960120"/>
            <a:ext cx="2743200" cy="50292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課題 (Issues)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B76E00"/>
                </a:solidFill>
                <a:latin typeface="游ゴシック"/>
              </a:rPr>
              <a:t>何がボトルネックか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バリューアップ型開発機能の未確立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現状は幅広いアセットライン対応のみ。付加価値創出の設計力が不足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開発〜Exit収益サイクル未確立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開発資産をExitし収益計上する出口戦略が未整備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AUM拡大・投資判断力の体系化未着手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ファンド組成・投資家基盤と連動した投資目利き・アンダーライティングの仕組み化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都市運営プラットフォームの不在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NOI拡大・バリューアップを継続的に回す運営主体が未確立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本ページの記述には将来見通しに関する情報を含み、実際の結果と異なる可能性があります。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開発事業 × 運用事業の好循環モデル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三軸の機能が相互に強化し合う仕組みを構築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3017520" cy="201168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33272"/>
            <a:ext cx="3017520" cy="3474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開発事業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多様なアセットクラスへの対応力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産業・商業複合型 企画・ソーシング力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バリューアップ型開発機能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開発〜Exit の収益サイクル確立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960120"/>
            <a:ext cx="3017520" cy="2011680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033272"/>
            <a:ext cx="3017520" cy="3474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游ゴシック"/>
              </a:rPr>
              <a:t>運用事業（運用 × 運営）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4630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投資家基盤の拡充・パイプライン構築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ファンド組成・アセットマネジメント体制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AUM拡大・投資判断力の体系化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  <a:latin typeface="游ゴシック"/>
              </a:rPr>
              <a:t>・ NOI拡大・都市運営プラットフォーム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20439" y="1280160"/>
            <a:ext cx="2103120" cy="502920"/>
          </a:xfrm>
          <a:prstGeom prst="rightArrow">
            <a:avLst/>
          </a:prstGeom>
          <a:solidFill>
            <a:srgbClr val="1F4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良質アセット供給・開発Exit収益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3520439" y="2148840"/>
            <a:ext cx="2103120" cy="502920"/>
          </a:xfrm>
          <a:prstGeom prst="leftArrow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資金調達力・運用収益・市場知見を還流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54680"/>
            <a:ext cx="8229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27832"/>
            <a:ext cx="795527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B2E5B"/>
                </a:solidFill>
                <a:latin typeface="游ゴシック"/>
              </a:rPr>
              <a:t>好循環による成果（Outcome）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593592"/>
            <a:ext cx="2560320" cy="749808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648456"/>
            <a:ext cx="2340863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キャッシュ・フロー拡大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3959352"/>
            <a:ext cx="2340863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游ゴシック"/>
              </a:rPr>
              <a:t>開発Exit益 ＋ 運用手数料・NOI の積上げ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3593592"/>
            <a:ext cx="2560320" cy="749808"/>
          </a:xfrm>
          <a:prstGeom prst="rect">
            <a:avLst/>
          </a:prstGeom>
          <a:solidFill>
            <a:srgbClr val="1F4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5848" y="3648456"/>
            <a:ext cx="2340863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資本効率（ROE）の改善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3959352"/>
            <a:ext cx="2340863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游ゴシック"/>
              </a:rPr>
              <a:t>アセット回転型モデルで自己資本の生産性向上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3593592"/>
            <a:ext cx="2560320" cy="749808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07608" y="3648456"/>
            <a:ext cx="2340863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ゴシック"/>
              </a:rPr>
              <a:t>AUM の持続的成長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7608" y="3959352"/>
            <a:ext cx="2340863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游ゴシック"/>
              </a:rPr>
              <a:t>投資家基盤拡大×開発パイプライン継続供給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本モデルは事業構想上の循環図であり、具体的な数値目標・事業計画については別途開示します。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2026-04-13T04:52:10Z</dcterms:created>
  <dcterms:modified xsi:type="dcterms:W3CDTF">2026-04-13T04:52:10Z</dcterms:modified>
</cp:coreProperties>
</file>