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都市開発・運営事業　戦略ロードマップ × 必要機能獲得計画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社長向け 機密資料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" y="1828800"/>
            <a:ext cx="8997696" cy="10973"/>
          </a:xfrm>
          <a:prstGeom prst="rect">
            <a:avLst/>
          </a:prstGeom>
          <a:solidFill>
            <a:srgbClr val="CACDD8">
              <a:alpha val="60000"/>
            </a:srgbClr>
          </a:solidFill>
          <a:ln w="12700">
            <a:solidFill>
              <a:srgbClr val="CACDD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3093" y="1828800"/>
            <a:ext cx="177112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8" name="Shape 6"/>
          <p:cNvSpPr/>
          <p:nvPr/>
        </p:nvSpPr>
        <p:spPr>
          <a:xfrm>
            <a:off x="4464834" y="1828800"/>
            <a:ext cx="177830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6414009" y="1828800"/>
            <a:ext cx="177112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076702" y="1399321"/>
            <a:ext cx="858958" cy="858958"/>
          </a:xfrm>
          <a:prstGeom prst="ellipse">
            <a:avLst/>
          </a:prstGeom>
          <a:solidFill>
            <a:srgbClr val="E8ECF5"/>
          </a:solidFill>
          <a:ln w="19050">
            <a:solidFill>
              <a:srgbClr val="8090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0734" y="1435897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734" y="14358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31566" y="1609344"/>
            <a:ext cx="7492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(As is)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67637" y="1193918"/>
            <a:ext cx="1269765" cy="1269765"/>
          </a:xfrm>
          <a:prstGeom prst="ellipse">
            <a:avLst/>
          </a:prstGeom>
          <a:solidFill>
            <a:srgbClr val="D8E8F2"/>
          </a:solidFill>
          <a:ln w="19050">
            <a:solidFill>
              <a:srgbClr val="4A8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7071" y="1230494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7071" y="12304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22501" y="1609344"/>
            <a:ext cx="1160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PJ Q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0096" y="970560"/>
            <a:ext cx="1716481" cy="1716481"/>
          </a:xfrm>
          <a:prstGeom prst="ellipse">
            <a:avLst/>
          </a:prstGeom>
          <a:solidFill>
            <a:srgbClr val="D4EEE2"/>
          </a:solidFill>
          <a:ln w="19050">
            <a:solidFill>
              <a:srgbClr val="2A8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2889" y="1007136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2889" y="100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24960" y="1609344"/>
            <a:ext cx="160675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PJ 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8553" y="721347"/>
            <a:ext cx="2214906" cy="2214906"/>
          </a:xfrm>
          <a:prstGeom prst="ellipse">
            <a:avLst/>
          </a:prstGeom>
          <a:solidFill>
            <a:srgbClr val="FAE8E0"/>
          </a:solidFill>
          <a:ln w="19050">
            <a:solidFill>
              <a:srgbClr val="C850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0558" y="757923"/>
            <a:ext cx="310896" cy="310896"/>
          </a:xfrm>
          <a:prstGeom prst="ellipse">
            <a:avLst/>
          </a:prstGeom>
          <a:solidFill>
            <a:srgbClr val="C8102E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0558" y="757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73417" y="1609344"/>
            <a:ext cx="21051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都市開発・運営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事業の実現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993392" y="3000261"/>
            <a:ext cx="1058616" cy="91440"/>
          </a:xfrm>
          <a:prstGeom prst="rect">
            <a:avLst/>
          </a:prstGeom>
          <a:solidFill>
            <a:srgbClr val="E8ECF5">
              <a:alpha val="70000"/>
            </a:srgbClr>
          </a:solidFill>
          <a:ln w="12700">
            <a:solidFill>
              <a:srgbClr val="809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06182" y="2258279"/>
            <a:ext cx="0" cy="100584"/>
          </a:xfrm>
          <a:prstGeom prst="line">
            <a:avLst/>
          </a:prstGeom>
          <a:noFill/>
          <a:ln w="10160">
            <a:solidFill>
              <a:srgbClr val="8090B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52008" y="3000261"/>
            <a:ext cx="1501741" cy="91440"/>
          </a:xfrm>
          <a:prstGeom prst="rect">
            <a:avLst/>
          </a:prstGeom>
          <a:solidFill>
            <a:srgbClr val="D8E8F2">
              <a:alpha val="70000"/>
            </a:srgbClr>
          </a:solidFill>
          <a:ln w="12700">
            <a:solidFill>
              <a:srgbClr val="4A8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2519" y="2463682"/>
            <a:ext cx="0" cy="100584"/>
          </a:xfrm>
          <a:prstGeom prst="line">
            <a:avLst/>
          </a:prstGeom>
          <a:noFill/>
          <a:ln w="10160">
            <a:solidFill>
              <a:srgbClr val="4A88B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3749" y="3000261"/>
            <a:ext cx="1949175" cy="91440"/>
          </a:xfrm>
          <a:prstGeom prst="rect">
            <a:avLst/>
          </a:prstGeom>
          <a:solidFill>
            <a:srgbClr val="D4EEE2">
              <a:alpha val="70000"/>
            </a:srgbClr>
          </a:solidFill>
          <a:ln w="12700">
            <a:solidFill>
              <a:srgbClr val="2A8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28337" y="2687040"/>
            <a:ext cx="0" cy="100584"/>
          </a:xfrm>
          <a:prstGeom prst="line">
            <a:avLst/>
          </a:prstGeom>
          <a:noFill/>
          <a:ln w="10160">
            <a:solidFill>
              <a:srgbClr val="2A8A5A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2924" y="3000261"/>
            <a:ext cx="2586212" cy="91440"/>
          </a:xfrm>
          <a:prstGeom prst="rect">
            <a:avLst/>
          </a:prstGeom>
          <a:solidFill>
            <a:srgbClr val="FAE8E0">
              <a:alpha val="70000"/>
            </a:srgbClr>
          </a:solidFill>
          <a:ln w="12700">
            <a:solidFill>
              <a:srgbClr val="C85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006" y="2936253"/>
            <a:ext cx="0" cy="100584"/>
          </a:xfrm>
          <a:prstGeom prst="line">
            <a:avLst/>
          </a:prstGeom>
          <a:noFill/>
          <a:ln w="10160">
            <a:solidFill>
              <a:srgbClr val="C8502A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7050" y="3091701"/>
            <a:ext cx="1051301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29968" y="3091701"/>
            <a:ext cx="100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現在 (As is)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055666" y="3091701"/>
            <a:ext cx="1494426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8584" y="3091701"/>
            <a:ext cx="1446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PJ Q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57407" y="3091701"/>
            <a:ext cx="1941860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325" y="3091701"/>
            <a:ext cx="1894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PJ 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06582" y="3091701"/>
            <a:ext cx="2578897" cy="2377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9500" y="3091701"/>
            <a:ext cx="2531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都市開発・運営 事業の実現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" y="3091701"/>
            <a:ext cx="1988820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" y="3091701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必要機能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" y="3329445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" y="3329445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" y="3329445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幅広いアセットライン対応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997050" y="3329445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7050" y="3329445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55666" y="3329445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55666" y="3329445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51" name="Shape 49"/>
          <p:cNvSpPr/>
          <p:nvPr/>
        </p:nvSpPr>
        <p:spPr>
          <a:xfrm>
            <a:off x="4557407" y="3329445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7407" y="3329445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53" name="Shape 51"/>
          <p:cNvSpPr/>
          <p:nvPr/>
        </p:nvSpPr>
        <p:spPr>
          <a:xfrm>
            <a:off x="6506582" y="3329445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6582" y="3329445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55" name="Shape 53"/>
          <p:cNvSpPr/>
          <p:nvPr/>
        </p:nvSpPr>
        <p:spPr>
          <a:xfrm>
            <a:off x="4572" y="3492105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" y="3492105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" y="3492105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産業型・集客型企画力＋ソーシング力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97050" y="3492105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97050" y="3492105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055666" y="3492105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55666" y="3492105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62" name="Shape 60"/>
          <p:cNvSpPr/>
          <p:nvPr/>
        </p:nvSpPr>
        <p:spPr>
          <a:xfrm>
            <a:off x="4557407" y="3492105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57407" y="3492105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64" name="Shape 62"/>
          <p:cNvSpPr/>
          <p:nvPr/>
        </p:nvSpPr>
        <p:spPr>
          <a:xfrm>
            <a:off x="6506582" y="3492105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06582" y="3492105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66" name="Shape 64"/>
          <p:cNvSpPr/>
          <p:nvPr/>
        </p:nvSpPr>
        <p:spPr>
          <a:xfrm>
            <a:off x="4572" y="3654766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" y="3654766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" y="365476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バリューアップ型開発力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997050" y="3654766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97050" y="365476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055666" y="3654766"/>
            <a:ext cx="1494426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55666" y="365476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57407" y="3654766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57407" y="365476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75" name="Shape 73"/>
          <p:cNvSpPr/>
          <p:nvPr/>
        </p:nvSpPr>
        <p:spPr>
          <a:xfrm>
            <a:off x="6506582" y="365476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6582" y="365476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77" name="Shape 75"/>
          <p:cNvSpPr/>
          <p:nvPr/>
        </p:nvSpPr>
        <p:spPr>
          <a:xfrm>
            <a:off x="4572" y="3817426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" y="3817426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" y="381742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開発→Exit の収益サイクル確立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997050" y="3817426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997050" y="381742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055666" y="3817426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55666" y="381742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57407" y="3817426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57407" y="381742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86" name="Shape 84"/>
          <p:cNvSpPr/>
          <p:nvPr/>
        </p:nvSpPr>
        <p:spPr>
          <a:xfrm>
            <a:off x="6506582" y="381742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6582" y="381742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88" name="Shape 86"/>
          <p:cNvSpPr/>
          <p:nvPr/>
        </p:nvSpPr>
        <p:spPr>
          <a:xfrm>
            <a:off x="4572" y="3980086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" y="3980086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" y="398008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投資家層拡充・優良パイプライン構築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997050" y="3980086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97050" y="398008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055666" y="3980086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55666" y="398008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95" name="Shape 93"/>
          <p:cNvSpPr/>
          <p:nvPr/>
        </p:nvSpPr>
        <p:spPr>
          <a:xfrm>
            <a:off x="4557407" y="3980086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57407" y="398008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97" name="Shape 95"/>
          <p:cNvSpPr/>
          <p:nvPr/>
        </p:nvSpPr>
        <p:spPr>
          <a:xfrm>
            <a:off x="6506582" y="398008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06582" y="398008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99" name="Shape 97"/>
          <p:cNvSpPr/>
          <p:nvPr/>
        </p:nvSpPr>
        <p:spPr>
          <a:xfrm>
            <a:off x="4572" y="4142747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72" y="414274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296" y="414274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ファンド組成・運用体制整備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997050" y="4142747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997050" y="414274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055666" y="4142747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55666" y="414274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06" name="Shape 104"/>
          <p:cNvSpPr/>
          <p:nvPr/>
        </p:nvSpPr>
        <p:spPr>
          <a:xfrm>
            <a:off x="4557407" y="4142747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57407" y="414274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08" name="Shape 106"/>
          <p:cNvSpPr/>
          <p:nvPr/>
        </p:nvSpPr>
        <p:spPr>
          <a:xfrm>
            <a:off x="6506582" y="414274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06582" y="414274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10" name="Shape 108"/>
          <p:cNvSpPr/>
          <p:nvPr/>
        </p:nvSpPr>
        <p:spPr>
          <a:xfrm>
            <a:off x="4572" y="4305407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72" y="430540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" y="430540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AUM拡大加速・目利き力の体系化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997050" y="4305407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97050" y="430540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055666" y="4305407"/>
            <a:ext cx="1494426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055666" y="430540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557407" y="4305407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57407" y="430540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19" name="Shape 117"/>
          <p:cNvSpPr/>
          <p:nvPr/>
        </p:nvSpPr>
        <p:spPr>
          <a:xfrm>
            <a:off x="6506582" y="430540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06582" y="430540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21" name="Shape 119"/>
          <p:cNvSpPr/>
          <p:nvPr/>
        </p:nvSpPr>
        <p:spPr>
          <a:xfrm>
            <a:off x="4572" y="4468067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" y="446806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296" y="446806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高利回り事業の実現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1997050" y="4468067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997050" y="446806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055666" y="4468067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055666" y="446806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557407" y="4468067"/>
            <a:ext cx="194186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57407" y="446806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506582" y="4468067"/>
            <a:ext cx="2578897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506582" y="446806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32" name="Shape 130"/>
          <p:cNvSpPr/>
          <p:nvPr/>
        </p:nvSpPr>
        <p:spPr>
          <a:xfrm>
            <a:off x="4572" y="4630727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72" y="4630727"/>
            <a:ext cx="45720" cy="159003"/>
          </a:xfrm>
          <a:prstGeom prst="rect">
            <a:avLst/>
          </a:prstGeom>
          <a:solidFill>
            <a:srgbClr val="2A5A7A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296" y="463072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NOI拡大・バリューアップ機能の獲得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997050" y="4630727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997050" y="463072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3055666" y="4630727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055666" y="463072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39" name="Shape 137"/>
          <p:cNvSpPr/>
          <p:nvPr/>
        </p:nvSpPr>
        <p:spPr>
          <a:xfrm>
            <a:off x="4557407" y="4630727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557407" y="463072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41" name="Shape 139"/>
          <p:cNvSpPr/>
          <p:nvPr/>
        </p:nvSpPr>
        <p:spPr>
          <a:xfrm>
            <a:off x="6506582" y="463072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06582" y="463072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43" name="Shape 141"/>
          <p:cNvSpPr/>
          <p:nvPr/>
        </p:nvSpPr>
        <p:spPr>
          <a:xfrm>
            <a:off x="4572" y="4793388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72" y="4793388"/>
            <a:ext cx="45720" cy="159003"/>
          </a:xfrm>
          <a:prstGeom prst="rect">
            <a:avLst/>
          </a:prstGeom>
          <a:solidFill>
            <a:srgbClr val="2A5A7A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2296" y="4793388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GHR事業再編・都市運営事業体確立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997050" y="4793388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997050" y="4793388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055666" y="4793388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055666" y="4793388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557407" y="4793388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557407" y="4793388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52" name="Shape 150"/>
          <p:cNvSpPr/>
          <p:nvPr/>
        </p:nvSpPr>
        <p:spPr>
          <a:xfrm>
            <a:off x="6506582" y="4793388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506582" y="4793388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54" name="Shape 152"/>
          <p:cNvSpPr/>
          <p:nvPr/>
        </p:nvSpPr>
        <p:spPr>
          <a:xfrm>
            <a:off x="3052008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53749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502924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72" y="3972771"/>
            <a:ext cx="9134856" cy="12802"/>
          </a:xfrm>
          <a:prstGeom prst="rect">
            <a:avLst/>
          </a:prstGeom>
          <a:solidFill>
            <a:srgbClr val="1A2648">
              <a:alpha val="20000"/>
            </a:srgbClr>
          </a:solidFill>
          <a:ln w="12700">
            <a:solidFill>
              <a:srgbClr val="1A2648">
                <a:alpha val="2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72" y="4623412"/>
            <a:ext cx="9134856" cy="12802"/>
          </a:xfrm>
          <a:prstGeom prst="rect">
            <a:avLst/>
          </a:prstGeom>
          <a:solidFill>
            <a:srgbClr val="1A2648">
              <a:alpha val="20000"/>
            </a:srgbClr>
          </a:solidFill>
          <a:ln w="12700">
            <a:solidFill>
              <a:srgbClr val="1A2648">
                <a:alpha val="2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025128" y="3338589"/>
            <a:ext cx="109728" cy="63235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025128" y="3338589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9025128" y="3537182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9025128" y="3735774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9025128" y="3989230"/>
            <a:ext cx="109728" cy="63235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025128" y="3989230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025128" y="4187823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9025128" y="4386415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9025128" y="4639871"/>
            <a:ext cx="109728" cy="30703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025128" y="4639871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025128" y="4730024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9025128" y="4820176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4572" y="3091701"/>
            <a:ext cx="9134856" cy="1873491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1A264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9728" y="5010912"/>
            <a:ext cx="164592" cy="128016"/>
          </a:xfrm>
          <a:prstGeom prst="rect">
            <a:avLst/>
          </a:prstGeom>
          <a:solidFill>
            <a:srgbClr val="FFF0F2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9728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310896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このフェーズで獲得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1499616" y="5010912"/>
            <a:ext cx="164592" cy="128016"/>
          </a:xfrm>
          <a:prstGeom prst="rect">
            <a:avLst/>
          </a:prstGeom>
          <a:solidFill>
            <a:srgbClr val="F0F7F3"/>
          </a:solidFill>
          <a:ln w="10160">
            <a:solidFill>
              <a:srgbClr val="2A7A5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499616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7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1700784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獲得済み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2889504" y="5010912"/>
            <a:ext cx="164592" cy="128016"/>
          </a:xfrm>
          <a:prstGeom prst="rect">
            <a:avLst/>
          </a:prstGeom>
          <a:solidFill>
            <a:srgbClr val="F2F4F7"/>
          </a:solidFill>
          <a:ln w="10160">
            <a:solidFill>
              <a:srgbClr val="8A8A9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889504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3090672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未獲得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0" y="5029200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0" y="5029200"/>
            <a:ext cx="9144000" cy="20117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01168" y="5047488"/>
            <a:ext cx="8778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●印の機能をフェーズごとに積み上げ、最終的に開発力・運用力・運営力の三軸を確立することで都市開発・運営事業の実現を目指す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2026-04-13T04:52:10Z</dcterms:created>
  <dcterms:modified xsi:type="dcterms:W3CDTF">2026-04-13T04:52:10Z</dcterms:modified>
</cp:coreProperties>
</file>